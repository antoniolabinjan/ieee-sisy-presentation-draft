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Open Sans SemiBold"/>
      <p:regular r:id="rId21"/>
      <p:bold r:id="rId22"/>
      <p:italic r:id="rId23"/>
      <p:boldItalic r:id="rId24"/>
    </p:embeddedFont>
    <p:embeddedFont>
      <p:font typeface="Open Sans ExtraBold"/>
      <p:bold r:id="rId25"/>
      <p:boldItalic r:id="rId26"/>
    </p:embeddedFont>
    <p:embeddedFont>
      <p:font typeface="Open Sans Light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96">
          <p15:clr>
            <a:srgbClr val="A4A3A4"/>
          </p15:clr>
        </p15:guide>
        <p15:guide id="2" pos="5328">
          <p15:clr>
            <a:srgbClr val="A4A3A4"/>
          </p15:clr>
        </p15:guide>
        <p15:guide id="3" pos="1800">
          <p15:clr>
            <a:srgbClr val="A4A3A4"/>
          </p15:clr>
        </p15:guide>
        <p15:guide id="4" pos="49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EBABE-FC20-478F-8854-4FBD34AEA2CE}">
  <a:tblStyle styleId="{D47EBABE-FC20-478F-8854-4FBD34AEA2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96" orient="horz"/>
        <p:guide pos="5328"/>
        <p:guide pos="1800"/>
        <p:guide pos="49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OpenSansSemiBold-bold.fntdata"/><Relationship Id="rId21" Type="http://schemas.openxmlformats.org/officeDocument/2006/relationships/font" Target="fonts/OpenSansSemiBold-regular.fntdata"/><Relationship Id="rId24" Type="http://schemas.openxmlformats.org/officeDocument/2006/relationships/font" Target="fonts/OpenSansSemiBold-boldItalic.fntdata"/><Relationship Id="rId23" Type="http://schemas.openxmlformats.org/officeDocument/2006/relationships/font" Target="fonts/OpenSa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ExtraBold-boldItalic.fntdata"/><Relationship Id="rId25" Type="http://schemas.openxmlformats.org/officeDocument/2006/relationships/font" Target="fonts/OpenSansExtraBold-bold.fntdata"/><Relationship Id="rId28" Type="http://schemas.openxmlformats.org/officeDocument/2006/relationships/font" Target="fonts/OpenSansLight-bold.fntdata"/><Relationship Id="rId27" Type="http://schemas.openxmlformats.org/officeDocument/2006/relationships/font" Target="fonts/OpenSans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OpenSansLight-boldItalic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9e322de65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9e322de65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9e322de65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f9e322de65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9e322de65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g3f9e322de65_1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9e322de65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g3f9e322de65_1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8.jp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25.jp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15pt">
  <p:cSld name="15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idx="1" type="body"/>
          </p:nvPr>
        </p:nvSpPr>
        <p:spPr>
          <a:xfrm>
            <a:off x="197400" y="1308384"/>
            <a:ext cx="85206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500"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>
            <p:ph type="title"/>
          </p:nvPr>
        </p:nvSpPr>
        <p:spPr>
          <a:xfrm>
            <a:off x="201168" y="17373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i="0" sz="1600">
                <a:solidFill>
                  <a:srgbClr val="7F7F7F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body"/>
          </p:nvPr>
        </p:nvSpPr>
        <p:spPr>
          <a:xfrm>
            <a:off x="548961" y="4873752"/>
            <a:ext cx="2176072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rgbClr val="00285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Multi Images - People &amp; Tech">
  <p:cSld name="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-7" y="-513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group of men in a factory&#10;&#10;AI-generated content may be incorrect."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1925" y="381950"/>
            <a:ext cx="3621600" cy="1960200"/>
          </a:xfrm>
          <a:prstGeom prst="roundRect">
            <a:avLst>
              <a:gd fmla="val 4227" name="adj"/>
            </a:avLst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 b="0" l="25503" r="25503" t="0"/>
          <a:stretch/>
        </p:blipFill>
        <p:spPr>
          <a:xfrm>
            <a:off x="5141925" y="2528450"/>
            <a:ext cx="1716000" cy="1970100"/>
          </a:xfrm>
          <a:prstGeom prst="roundRect">
            <a:avLst>
              <a:gd fmla="val 5220" name="adj"/>
            </a:avLst>
          </a:prstGeom>
          <a:noFill/>
          <a:ln>
            <a:noFill/>
          </a:ln>
        </p:spPr>
      </p:pic>
      <p:pic>
        <p:nvPicPr>
          <p:cNvPr descr="A person welding a tunnel&#10;&#10;AI-generated content may be incorrect."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7047525" y="2528450"/>
            <a:ext cx="1716000" cy="893400"/>
          </a:xfrm>
          <a:prstGeom prst="roundRect">
            <a:avLst>
              <a:gd fmla="val 9844" name="adj"/>
            </a:avLst>
          </a:prstGeom>
          <a:noFill/>
          <a:ln>
            <a:noFill/>
          </a:ln>
        </p:spPr>
      </p:pic>
      <p:pic>
        <p:nvPicPr>
          <p:cNvPr descr="A group of people in lab coats&#10;&#10;AI-generated content may be incorrect." id="23" name="Google Shape;23;p3"/>
          <p:cNvPicPr preferRelativeResize="0"/>
          <p:nvPr/>
        </p:nvPicPr>
        <p:blipFill rotWithShape="1">
          <a:blip r:embed="rId5">
            <a:alphaModFix/>
          </a:blip>
          <a:srcRect b="0" l="0" r="0" t="-341"/>
          <a:stretch/>
        </p:blipFill>
        <p:spPr>
          <a:xfrm>
            <a:off x="7047525" y="3605150"/>
            <a:ext cx="1716000" cy="893400"/>
          </a:xfrm>
          <a:prstGeom prst="roundRect">
            <a:avLst>
              <a:gd fmla="val 9844" name="adj"/>
            </a:avLst>
          </a:prstGeom>
          <a:noFill/>
          <a:ln>
            <a:noFill/>
          </a:ln>
        </p:spPr>
      </p:pic>
      <p:pic>
        <p:nvPicPr>
          <p:cNvPr id="24" name="Google Shape;24;p3" title="Blue BG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4638961"/>
            <a:ext cx="9144001" cy="5045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380475" y="-338"/>
            <a:ext cx="4572000" cy="5143325"/>
            <a:chOff x="380400" y="175"/>
            <a:chExt cx="4572000" cy="5143325"/>
          </a:xfrm>
        </p:grpSpPr>
        <p:sp>
          <p:nvSpPr>
            <p:cNvPr id="26" name="Google Shape;26;p3"/>
            <p:cNvSpPr/>
            <p:nvPr/>
          </p:nvSpPr>
          <p:spPr>
            <a:xfrm>
              <a:off x="380400" y="382075"/>
              <a:ext cx="4572000" cy="4113000"/>
            </a:xfrm>
            <a:prstGeom prst="roundRect">
              <a:avLst>
                <a:gd fmla="val 1983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7" name="Google Shape;27;p3"/>
            <p:cNvCxnSpPr/>
            <p:nvPr/>
          </p:nvCxnSpPr>
          <p:spPr>
            <a:xfrm flipH="1" rot="10800000">
              <a:off x="2747675" y="175"/>
              <a:ext cx="300" cy="5724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8" name="Google Shape;28;p3" title="Logo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47600" y="655375"/>
              <a:ext cx="1107675" cy="6220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" name="Google Shape;29;p3"/>
            <p:cNvCxnSpPr/>
            <p:nvPr/>
          </p:nvCxnSpPr>
          <p:spPr>
            <a:xfrm rot="10800000">
              <a:off x="2747675" y="4271100"/>
              <a:ext cx="0" cy="8724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3"/>
          <p:cNvSpPr txBox="1"/>
          <p:nvPr>
            <p:ph idx="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3"/>
          <p:cNvSpPr txBox="1"/>
          <p:nvPr>
            <p:ph type="title"/>
          </p:nvPr>
        </p:nvSpPr>
        <p:spPr>
          <a:xfrm>
            <a:off x="548700" y="1693700"/>
            <a:ext cx="42393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548700" y="2933625"/>
            <a:ext cx="42393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3" type="subTitle"/>
          </p:nvPr>
        </p:nvSpPr>
        <p:spPr>
          <a:xfrm>
            <a:off x="548700" y="3643300"/>
            <a:ext cx="4239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pen Sans ExtraBold"/>
              <a:buNone/>
              <a:defRPr b="1" sz="1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4" type="body"/>
          </p:nvPr>
        </p:nvSpPr>
        <p:spPr>
          <a:xfrm>
            <a:off x="548961" y="4873751"/>
            <a:ext cx="2198788" cy="1860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3"/>
          <p:cNvSpPr txBox="1"/>
          <p:nvPr/>
        </p:nvSpPr>
        <p:spPr>
          <a:xfrm>
            <a:off x="2288185" y="4965192"/>
            <a:ext cx="6138804" cy="14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public charity, IEEE is the world's largest technical professional organization dedicated to advancing technology for the benefit of humanity.</a:t>
            </a:r>
            <a:endParaRPr b="0" i="0" sz="6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40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Multi Images - Tech">
  <p:cSld name="2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large yellow and black object&#10;&#10;AI-generated content may be incorrect.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1927" y="381938"/>
            <a:ext cx="3621600" cy="1960200"/>
          </a:xfrm>
          <a:prstGeom prst="roundRect">
            <a:avLst>
              <a:gd fmla="val 4227" name="adj"/>
            </a:avLst>
          </a:prstGeom>
          <a:noFill/>
          <a:ln>
            <a:noFill/>
          </a:ln>
        </p:spPr>
      </p:pic>
      <p:pic>
        <p:nvPicPr>
          <p:cNvPr descr="A solar panels in a field&#10;&#10;AI-generated content may be incorrect." id="40" name="Google Shape;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1927" y="2528450"/>
            <a:ext cx="1716000" cy="1970100"/>
          </a:xfrm>
          <a:prstGeom prst="roundRect">
            <a:avLst>
              <a:gd fmla="val 4825" name="adj"/>
            </a:avLst>
          </a:prstGeom>
          <a:noFill/>
          <a:ln>
            <a:noFill/>
          </a:ln>
        </p:spPr>
      </p:pic>
      <p:pic>
        <p:nvPicPr>
          <p:cNvPr descr="Cars on the road with blue circles&#10;&#10;AI-generated content may be incorrect." id="41" name="Google Shape;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7527" y="2528450"/>
            <a:ext cx="1716000" cy="893400"/>
          </a:xfrm>
          <a:prstGeom prst="roundRect">
            <a:avLst>
              <a:gd fmla="val 8327" name="adj"/>
            </a:avLst>
          </a:prstGeom>
          <a:noFill/>
          <a:ln>
            <a:noFill/>
          </a:ln>
        </p:spPr>
      </p:pic>
      <p:pic>
        <p:nvPicPr>
          <p:cNvPr descr="A robotic arm holding a chip&#10;&#10;AI-generated content may be incorrect." id="42" name="Google Shape;4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7527" y="3605150"/>
            <a:ext cx="1716000" cy="893400"/>
          </a:xfrm>
          <a:prstGeom prst="roundRect">
            <a:avLst>
              <a:gd fmla="val 9844" name="adj"/>
            </a:avLst>
          </a:prstGeom>
          <a:noFill/>
          <a:ln>
            <a:noFill/>
          </a:ln>
        </p:spPr>
      </p:pic>
      <p:pic>
        <p:nvPicPr>
          <p:cNvPr id="43" name="Google Shape;43;p4" title="Blue BG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4638961"/>
            <a:ext cx="9144001" cy="5045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380400" y="175"/>
            <a:ext cx="4572000" cy="5143325"/>
            <a:chOff x="380400" y="175"/>
            <a:chExt cx="4572000" cy="5143325"/>
          </a:xfrm>
        </p:grpSpPr>
        <p:sp>
          <p:nvSpPr>
            <p:cNvPr id="45" name="Google Shape;45;p4"/>
            <p:cNvSpPr/>
            <p:nvPr/>
          </p:nvSpPr>
          <p:spPr>
            <a:xfrm>
              <a:off x="380400" y="382075"/>
              <a:ext cx="4572000" cy="4113000"/>
            </a:xfrm>
            <a:prstGeom prst="roundRect">
              <a:avLst>
                <a:gd fmla="val 1983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46" name="Google Shape;46;p4"/>
            <p:cNvCxnSpPr/>
            <p:nvPr/>
          </p:nvCxnSpPr>
          <p:spPr>
            <a:xfrm flipH="1" rot="10800000">
              <a:off x="2747675" y="175"/>
              <a:ext cx="300" cy="5724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47" name="Google Shape;47;p4" title="Logo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47600" y="655375"/>
              <a:ext cx="1107675" cy="6220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8" name="Google Shape;48;p4"/>
            <p:cNvCxnSpPr/>
            <p:nvPr/>
          </p:nvCxnSpPr>
          <p:spPr>
            <a:xfrm rot="10800000">
              <a:off x="2747675" y="4271100"/>
              <a:ext cx="0" cy="8724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9" name="Google Shape;49;p4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4"/>
          <p:cNvSpPr txBox="1"/>
          <p:nvPr>
            <p:ph idx="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4"/>
          <p:cNvSpPr txBox="1"/>
          <p:nvPr>
            <p:ph type="title"/>
          </p:nvPr>
        </p:nvSpPr>
        <p:spPr>
          <a:xfrm>
            <a:off x="548700" y="1693700"/>
            <a:ext cx="42393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" name="Google Shape;52;p4"/>
          <p:cNvSpPr txBox="1"/>
          <p:nvPr>
            <p:ph idx="1" type="subTitle"/>
          </p:nvPr>
        </p:nvSpPr>
        <p:spPr>
          <a:xfrm>
            <a:off x="548700" y="2933625"/>
            <a:ext cx="42393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3" type="subTitle"/>
          </p:nvPr>
        </p:nvSpPr>
        <p:spPr>
          <a:xfrm>
            <a:off x="548700" y="3643300"/>
            <a:ext cx="4239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pen Sans ExtraBold"/>
              <a:buNone/>
              <a:defRPr b="1" sz="1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4" type="body"/>
          </p:nvPr>
        </p:nvSpPr>
        <p:spPr>
          <a:xfrm>
            <a:off x="548961" y="4873752"/>
            <a:ext cx="2198714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/>
        </p:nvSpPr>
        <p:spPr>
          <a:xfrm>
            <a:off x="2288185" y="4965192"/>
            <a:ext cx="6138804" cy="14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public charity, IEEE is the world's largest technical professional organization dedicated to advancing technology for the benefit of humanity.</a:t>
            </a:r>
            <a:endParaRPr b="0" i="0" sz="6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Multi Images - People">
  <p:cSld name="3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person and person standing in a server room&#10;&#10;AI-generated content may be incorrect." id="58" name="Google Shape;5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1925" y="2535650"/>
            <a:ext cx="1716000" cy="1970100"/>
          </a:xfrm>
          <a:prstGeom prst="roundRect">
            <a:avLst>
              <a:gd fmla="val 4826" name="adj"/>
            </a:avLst>
          </a:prstGeom>
          <a:noFill/>
          <a:ln>
            <a:noFill/>
          </a:ln>
        </p:spPr>
      </p:pic>
      <p:pic>
        <p:nvPicPr>
          <p:cNvPr descr="A group of people sitting on a stage&#10;&#10;AI-generated content may be incorrect." id="59" name="Google Shape;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1925" y="378842"/>
            <a:ext cx="3621600" cy="1960200"/>
          </a:xfrm>
          <a:prstGeom prst="roundRect">
            <a:avLst>
              <a:gd fmla="val 4227" name="adj"/>
            </a:avLst>
          </a:prstGeom>
          <a:noFill/>
          <a:ln>
            <a:noFill/>
          </a:ln>
        </p:spPr>
      </p:pic>
      <p:pic>
        <p:nvPicPr>
          <p:cNvPr descr="A group of people in a meeting&#10;&#10;AI-generated content may be incorrect." id="60" name="Google Shape;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7525" y="2525342"/>
            <a:ext cx="1716000" cy="893400"/>
          </a:xfrm>
          <a:prstGeom prst="roundRect">
            <a:avLst>
              <a:gd fmla="val 9844" name="adj"/>
            </a:avLst>
          </a:prstGeom>
          <a:noFill/>
          <a:ln>
            <a:noFill/>
          </a:ln>
        </p:spPr>
      </p:pic>
      <p:pic>
        <p:nvPicPr>
          <p:cNvPr descr="A group of people sitting at a table&#10;&#10;AI-generated content may be incorrect." id="61" name="Google Shape;61;p5"/>
          <p:cNvPicPr preferRelativeResize="0"/>
          <p:nvPr/>
        </p:nvPicPr>
        <p:blipFill rotWithShape="1">
          <a:blip r:embed="rId5">
            <a:alphaModFix/>
          </a:blip>
          <a:srcRect b="0" l="0" r="0" t="-341"/>
          <a:stretch/>
        </p:blipFill>
        <p:spPr>
          <a:xfrm>
            <a:off x="7047525" y="3608815"/>
            <a:ext cx="1716000" cy="893400"/>
          </a:xfrm>
          <a:prstGeom prst="roundRect">
            <a:avLst>
              <a:gd fmla="val 9844" name="adj"/>
            </a:avLst>
          </a:prstGeom>
          <a:noFill/>
          <a:ln>
            <a:noFill/>
          </a:ln>
        </p:spPr>
      </p:pic>
      <p:pic>
        <p:nvPicPr>
          <p:cNvPr id="62" name="Google Shape;62;p5" title="Blue BG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4638961"/>
            <a:ext cx="9144001" cy="5045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5"/>
          <p:cNvGrpSpPr/>
          <p:nvPr/>
        </p:nvGrpSpPr>
        <p:grpSpPr>
          <a:xfrm>
            <a:off x="380400" y="175"/>
            <a:ext cx="4572000" cy="5143325"/>
            <a:chOff x="380400" y="175"/>
            <a:chExt cx="4572000" cy="5143325"/>
          </a:xfrm>
        </p:grpSpPr>
        <p:sp>
          <p:nvSpPr>
            <p:cNvPr id="64" name="Google Shape;64;p5"/>
            <p:cNvSpPr/>
            <p:nvPr/>
          </p:nvSpPr>
          <p:spPr>
            <a:xfrm>
              <a:off x="380400" y="382075"/>
              <a:ext cx="4572000" cy="4113000"/>
            </a:xfrm>
            <a:prstGeom prst="roundRect">
              <a:avLst>
                <a:gd fmla="val 1983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65" name="Google Shape;65;p5"/>
            <p:cNvCxnSpPr/>
            <p:nvPr/>
          </p:nvCxnSpPr>
          <p:spPr>
            <a:xfrm flipH="1" rot="10800000">
              <a:off x="2747675" y="175"/>
              <a:ext cx="300" cy="5724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66" name="Google Shape;66;p5" title="Logo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47600" y="655375"/>
              <a:ext cx="1107675" cy="6220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7" name="Google Shape;67;p5"/>
            <p:cNvCxnSpPr/>
            <p:nvPr/>
          </p:nvCxnSpPr>
          <p:spPr>
            <a:xfrm rot="10800000">
              <a:off x="2747675" y="4271100"/>
              <a:ext cx="0" cy="8724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8" name="Google Shape;68;p5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5"/>
          <p:cNvSpPr txBox="1"/>
          <p:nvPr>
            <p:ph idx="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5"/>
          <p:cNvSpPr txBox="1"/>
          <p:nvPr>
            <p:ph type="title"/>
          </p:nvPr>
        </p:nvSpPr>
        <p:spPr>
          <a:xfrm>
            <a:off x="548700" y="1693700"/>
            <a:ext cx="42393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1" name="Google Shape;71;p5"/>
          <p:cNvSpPr txBox="1"/>
          <p:nvPr>
            <p:ph idx="1" type="subTitle"/>
          </p:nvPr>
        </p:nvSpPr>
        <p:spPr>
          <a:xfrm>
            <a:off x="548700" y="2933625"/>
            <a:ext cx="42393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"/>
          <p:cNvSpPr txBox="1"/>
          <p:nvPr>
            <p:ph idx="3" type="subTitle"/>
          </p:nvPr>
        </p:nvSpPr>
        <p:spPr>
          <a:xfrm>
            <a:off x="548700" y="3643300"/>
            <a:ext cx="4239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pen Sans ExtraBold"/>
              <a:buNone/>
              <a:defRPr b="1" sz="1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"/>
          <p:cNvSpPr txBox="1"/>
          <p:nvPr>
            <p:ph idx="4" type="body"/>
          </p:nvPr>
        </p:nvSpPr>
        <p:spPr>
          <a:xfrm>
            <a:off x="548961" y="4873752"/>
            <a:ext cx="2198714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5"/>
          <p:cNvSpPr txBox="1"/>
          <p:nvPr/>
        </p:nvSpPr>
        <p:spPr>
          <a:xfrm>
            <a:off x="2288185" y="4965192"/>
            <a:ext cx="6138804" cy="14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public charity, IEEE is the world's largest technical professional organization dedicated to advancing technology for the benefit of humanity.</a:t>
            </a:r>
            <a:endParaRPr b="0" i="0" sz="6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Multi Images - Custom">
  <p:cSld name="4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7" name="Google Shape;77;p6" title="Blue BG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638961"/>
            <a:ext cx="9144001" cy="5045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6"/>
          <p:cNvGrpSpPr/>
          <p:nvPr/>
        </p:nvGrpSpPr>
        <p:grpSpPr>
          <a:xfrm>
            <a:off x="380400" y="175"/>
            <a:ext cx="4572000" cy="5143325"/>
            <a:chOff x="380400" y="175"/>
            <a:chExt cx="4572000" cy="5143325"/>
          </a:xfrm>
        </p:grpSpPr>
        <p:sp>
          <p:nvSpPr>
            <p:cNvPr id="79" name="Google Shape;79;p6"/>
            <p:cNvSpPr/>
            <p:nvPr/>
          </p:nvSpPr>
          <p:spPr>
            <a:xfrm>
              <a:off x="380400" y="382075"/>
              <a:ext cx="4572000" cy="4113000"/>
            </a:xfrm>
            <a:prstGeom prst="roundRect">
              <a:avLst>
                <a:gd fmla="val 1983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80" name="Google Shape;80;p6"/>
            <p:cNvCxnSpPr/>
            <p:nvPr/>
          </p:nvCxnSpPr>
          <p:spPr>
            <a:xfrm flipH="1" rot="10800000">
              <a:off x="2747675" y="175"/>
              <a:ext cx="300" cy="5724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81" name="Google Shape;81;p6" title="Logo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7600" y="655375"/>
              <a:ext cx="1107675" cy="6220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2" name="Google Shape;82;p6"/>
            <p:cNvCxnSpPr/>
            <p:nvPr/>
          </p:nvCxnSpPr>
          <p:spPr>
            <a:xfrm rot="10800000">
              <a:off x="2747675" y="4271100"/>
              <a:ext cx="0" cy="8724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3" name="Google Shape;83;p6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6"/>
          <p:cNvSpPr txBox="1"/>
          <p:nvPr>
            <p:ph idx="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6"/>
          <p:cNvSpPr txBox="1"/>
          <p:nvPr>
            <p:ph type="title"/>
          </p:nvPr>
        </p:nvSpPr>
        <p:spPr>
          <a:xfrm>
            <a:off x="548700" y="1693700"/>
            <a:ext cx="42393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6" name="Google Shape;86;p6"/>
          <p:cNvSpPr txBox="1"/>
          <p:nvPr>
            <p:ph idx="1" type="subTitle"/>
          </p:nvPr>
        </p:nvSpPr>
        <p:spPr>
          <a:xfrm>
            <a:off x="548700" y="2933625"/>
            <a:ext cx="42393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3" type="subTitle"/>
          </p:nvPr>
        </p:nvSpPr>
        <p:spPr>
          <a:xfrm>
            <a:off x="548700" y="3643300"/>
            <a:ext cx="4239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pen Sans ExtraBold"/>
              <a:buNone/>
              <a:defRPr b="1" sz="1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"/>
          <p:cNvSpPr/>
          <p:nvPr>
            <p:ph idx="4" type="pic"/>
          </p:nvPr>
        </p:nvSpPr>
        <p:spPr>
          <a:xfrm>
            <a:off x="5141925" y="381950"/>
            <a:ext cx="3621600" cy="1960200"/>
          </a:xfrm>
          <a:prstGeom prst="roundRect">
            <a:avLst>
              <a:gd fmla="val 4102" name="adj"/>
            </a:avLst>
          </a:prstGeom>
          <a:noFill/>
          <a:ln>
            <a:noFill/>
          </a:ln>
        </p:spPr>
      </p:sp>
      <p:sp>
        <p:nvSpPr>
          <p:cNvPr id="89" name="Google Shape;89;p6"/>
          <p:cNvSpPr/>
          <p:nvPr>
            <p:ph idx="5" type="pic"/>
          </p:nvPr>
        </p:nvSpPr>
        <p:spPr>
          <a:xfrm>
            <a:off x="5141925" y="2528450"/>
            <a:ext cx="1716000" cy="1970100"/>
          </a:xfrm>
          <a:prstGeom prst="roundRect">
            <a:avLst>
              <a:gd fmla="val 4685" name="adj"/>
            </a:avLst>
          </a:prstGeom>
          <a:noFill/>
          <a:ln>
            <a:noFill/>
          </a:ln>
        </p:spPr>
      </p:sp>
      <p:sp>
        <p:nvSpPr>
          <p:cNvPr id="90" name="Google Shape;90;p6"/>
          <p:cNvSpPr/>
          <p:nvPr>
            <p:ph idx="6" type="pic"/>
          </p:nvPr>
        </p:nvSpPr>
        <p:spPr>
          <a:xfrm>
            <a:off x="7047525" y="2528450"/>
            <a:ext cx="1716000" cy="893400"/>
          </a:xfrm>
          <a:prstGeom prst="roundRect">
            <a:avLst>
              <a:gd fmla="val 9268" name="adj"/>
            </a:avLst>
          </a:prstGeom>
          <a:noFill/>
          <a:ln>
            <a:noFill/>
          </a:ln>
        </p:spPr>
      </p:sp>
      <p:sp>
        <p:nvSpPr>
          <p:cNvPr id="91" name="Google Shape;91;p6"/>
          <p:cNvSpPr/>
          <p:nvPr>
            <p:ph idx="7" type="pic"/>
          </p:nvPr>
        </p:nvSpPr>
        <p:spPr>
          <a:xfrm>
            <a:off x="7047525" y="3605150"/>
            <a:ext cx="1716000" cy="893400"/>
          </a:xfrm>
          <a:prstGeom prst="roundRect">
            <a:avLst>
              <a:gd fmla="val 9268" name="adj"/>
            </a:avLst>
          </a:prstGeom>
          <a:noFill/>
          <a:ln>
            <a:noFill/>
          </a:ln>
        </p:spPr>
      </p:sp>
      <p:sp>
        <p:nvSpPr>
          <p:cNvPr id="92" name="Google Shape;92;p6"/>
          <p:cNvSpPr txBox="1"/>
          <p:nvPr>
            <p:ph idx="8" type="body"/>
          </p:nvPr>
        </p:nvSpPr>
        <p:spPr>
          <a:xfrm>
            <a:off x="548961" y="4873752"/>
            <a:ext cx="2198714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6"/>
          <p:cNvSpPr txBox="1"/>
          <p:nvPr/>
        </p:nvSpPr>
        <p:spPr>
          <a:xfrm>
            <a:off x="2288185" y="4965192"/>
            <a:ext cx="6138804" cy="14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public charity, IEEE is the world's largest technical professional organization dedicated to advancing technology for the benefit of humanity.</a:t>
            </a:r>
            <a:endParaRPr b="0" i="0" sz="6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Large Image - People &amp; Tech">
  <p:cSld name="6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7" title="iStock-2186412892-1920x1080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/>
          <p:nvPr/>
        </p:nvSpPr>
        <p:spPr>
          <a:xfrm>
            <a:off x="380400" y="382075"/>
            <a:ext cx="4572000" cy="4113000"/>
          </a:xfrm>
          <a:prstGeom prst="roundRect">
            <a:avLst>
              <a:gd fmla="val 1983" name="adj"/>
            </a:avLst>
          </a:prstGeom>
          <a:solidFill>
            <a:srgbClr val="002855">
              <a:alpha val="8823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7" name="Google Shape;97;p7" title="Image B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638974"/>
            <a:ext cx="9144001" cy="5045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7"/>
          <p:cNvCxnSpPr/>
          <p:nvPr/>
        </p:nvCxnSpPr>
        <p:spPr>
          <a:xfrm flipH="1" rot="10800000">
            <a:off x="2747675" y="175"/>
            <a:ext cx="300" cy="572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7"/>
          <p:cNvCxnSpPr/>
          <p:nvPr/>
        </p:nvCxnSpPr>
        <p:spPr>
          <a:xfrm rot="10800000">
            <a:off x="2747675" y="4271100"/>
            <a:ext cx="0" cy="872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0" name="Google Shape;100;p7" title="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600" y="655375"/>
            <a:ext cx="1107675" cy="62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7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7"/>
          <p:cNvSpPr txBox="1"/>
          <p:nvPr>
            <p:ph idx="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7"/>
          <p:cNvSpPr txBox="1"/>
          <p:nvPr>
            <p:ph type="title"/>
          </p:nvPr>
        </p:nvSpPr>
        <p:spPr>
          <a:xfrm>
            <a:off x="548700" y="1693700"/>
            <a:ext cx="42393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4" name="Google Shape;104;p7"/>
          <p:cNvSpPr txBox="1"/>
          <p:nvPr>
            <p:ph idx="1" type="subTitle"/>
          </p:nvPr>
        </p:nvSpPr>
        <p:spPr>
          <a:xfrm>
            <a:off x="548700" y="2933625"/>
            <a:ext cx="42393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7"/>
          <p:cNvSpPr txBox="1"/>
          <p:nvPr>
            <p:ph idx="3" type="subTitle"/>
          </p:nvPr>
        </p:nvSpPr>
        <p:spPr>
          <a:xfrm>
            <a:off x="548700" y="3643300"/>
            <a:ext cx="4239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pen Sans ExtraBold"/>
              <a:buNone/>
              <a:defRPr b="1" sz="1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"/>
          <p:cNvSpPr txBox="1"/>
          <p:nvPr>
            <p:ph idx="4" type="body"/>
          </p:nvPr>
        </p:nvSpPr>
        <p:spPr>
          <a:xfrm>
            <a:off x="548961" y="4873752"/>
            <a:ext cx="2198714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7"/>
          <p:cNvSpPr txBox="1"/>
          <p:nvPr/>
        </p:nvSpPr>
        <p:spPr>
          <a:xfrm>
            <a:off x="2288185" y="4965192"/>
            <a:ext cx="6138804" cy="14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public charity, IEEE is the world's largest technical professional organization dedicated to advancing technology for the benefit of humanity.</a:t>
            </a:r>
            <a:endParaRPr b="0" i="0" sz="6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Large Image - People &amp; Tech">
  <p:cSld name="1_Title Slide - Large Image - People &amp; Tech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8" title="iStock-1457031994-1920x1080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8"/>
          <p:cNvSpPr/>
          <p:nvPr/>
        </p:nvSpPr>
        <p:spPr>
          <a:xfrm>
            <a:off x="380400" y="382075"/>
            <a:ext cx="4572000" cy="4113000"/>
          </a:xfrm>
          <a:prstGeom prst="roundRect">
            <a:avLst>
              <a:gd fmla="val 1983" name="adj"/>
            </a:avLst>
          </a:prstGeom>
          <a:solidFill>
            <a:srgbClr val="002855">
              <a:alpha val="8823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1" name="Google Shape;111;p8" title="Image B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638974"/>
            <a:ext cx="9144001" cy="5045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8"/>
          <p:cNvCxnSpPr/>
          <p:nvPr/>
        </p:nvCxnSpPr>
        <p:spPr>
          <a:xfrm flipH="1" rot="10800000">
            <a:off x="2747675" y="175"/>
            <a:ext cx="300" cy="572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8"/>
          <p:cNvCxnSpPr/>
          <p:nvPr/>
        </p:nvCxnSpPr>
        <p:spPr>
          <a:xfrm rot="10800000">
            <a:off x="2747675" y="4271100"/>
            <a:ext cx="0" cy="872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4" name="Google Shape;114;p8" title="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600" y="655375"/>
            <a:ext cx="1107675" cy="62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8"/>
          <p:cNvSpPr txBox="1"/>
          <p:nvPr>
            <p:ph idx="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8"/>
          <p:cNvSpPr txBox="1"/>
          <p:nvPr>
            <p:ph type="title"/>
          </p:nvPr>
        </p:nvSpPr>
        <p:spPr>
          <a:xfrm>
            <a:off x="548700" y="1693700"/>
            <a:ext cx="42393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8" name="Google Shape;118;p8"/>
          <p:cNvSpPr txBox="1"/>
          <p:nvPr>
            <p:ph idx="1" type="subTitle"/>
          </p:nvPr>
        </p:nvSpPr>
        <p:spPr>
          <a:xfrm>
            <a:off x="548700" y="2933625"/>
            <a:ext cx="42393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8"/>
          <p:cNvSpPr txBox="1"/>
          <p:nvPr>
            <p:ph idx="3" type="subTitle"/>
          </p:nvPr>
        </p:nvSpPr>
        <p:spPr>
          <a:xfrm>
            <a:off x="548700" y="3643300"/>
            <a:ext cx="4239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pen Sans ExtraBold"/>
              <a:buNone/>
              <a:defRPr b="1" sz="1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"/>
          <p:cNvSpPr txBox="1"/>
          <p:nvPr>
            <p:ph idx="4" type="body"/>
          </p:nvPr>
        </p:nvSpPr>
        <p:spPr>
          <a:xfrm>
            <a:off x="548961" y="4873752"/>
            <a:ext cx="2198714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8"/>
          <p:cNvSpPr txBox="1"/>
          <p:nvPr/>
        </p:nvSpPr>
        <p:spPr>
          <a:xfrm>
            <a:off x="2288185" y="4965192"/>
            <a:ext cx="6138804" cy="14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public charity, IEEE is the world's largest technical professional organization dedicated to advancing technology for the benefit of humanity.</a:t>
            </a:r>
            <a:endParaRPr b="0" i="0" sz="6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Large Image - Tech B">
  <p:cSld name="8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9" title="shutterstock-2513743417-1920x1080v2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9"/>
          <p:cNvSpPr/>
          <p:nvPr/>
        </p:nvSpPr>
        <p:spPr>
          <a:xfrm>
            <a:off x="380400" y="382075"/>
            <a:ext cx="4572000" cy="4113000"/>
          </a:xfrm>
          <a:prstGeom prst="roundRect">
            <a:avLst>
              <a:gd fmla="val 1983" name="adj"/>
            </a:avLst>
          </a:prstGeom>
          <a:solidFill>
            <a:srgbClr val="002855">
              <a:alpha val="8823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5" name="Google Shape;125;p9" title="Image B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638974"/>
            <a:ext cx="9144001" cy="5045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9"/>
          <p:cNvCxnSpPr/>
          <p:nvPr/>
        </p:nvCxnSpPr>
        <p:spPr>
          <a:xfrm flipH="1" rot="10800000">
            <a:off x="2747675" y="175"/>
            <a:ext cx="300" cy="572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9"/>
          <p:cNvCxnSpPr/>
          <p:nvPr/>
        </p:nvCxnSpPr>
        <p:spPr>
          <a:xfrm rot="10800000">
            <a:off x="2747675" y="4271100"/>
            <a:ext cx="0" cy="872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8" name="Google Shape;128;p9" title="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600" y="655375"/>
            <a:ext cx="1107675" cy="62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9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9"/>
          <p:cNvSpPr txBox="1"/>
          <p:nvPr>
            <p:ph idx="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9"/>
          <p:cNvSpPr txBox="1"/>
          <p:nvPr>
            <p:ph type="title"/>
          </p:nvPr>
        </p:nvSpPr>
        <p:spPr>
          <a:xfrm>
            <a:off x="548700" y="1693700"/>
            <a:ext cx="42393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548700" y="2933625"/>
            <a:ext cx="42393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9"/>
          <p:cNvSpPr txBox="1"/>
          <p:nvPr>
            <p:ph idx="3" type="subTitle"/>
          </p:nvPr>
        </p:nvSpPr>
        <p:spPr>
          <a:xfrm>
            <a:off x="548700" y="3643300"/>
            <a:ext cx="4239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pen Sans ExtraBold"/>
              <a:buNone/>
              <a:defRPr b="1" sz="1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4" type="body"/>
          </p:nvPr>
        </p:nvSpPr>
        <p:spPr>
          <a:xfrm>
            <a:off x="548961" y="4873752"/>
            <a:ext cx="2198714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p9"/>
          <p:cNvSpPr txBox="1"/>
          <p:nvPr/>
        </p:nvSpPr>
        <p:spPr>
          <a:xfrm>
            <a:off x="2288185" y="4965192"/>
            <a:ext cx="6138804" cy="14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public charity, IEEE is the world's largest technical professional organization dedicated to advancing technology for the benefit of humanity.</a:t>
            </a:r>
            <a:endParaRPr b="0" i="0" sz="6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Large Image - Tech B">
  <p:cSld name="1_Title Slide - Large Image - Tech B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0" title="iStock-930443836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8"/>
            <a:ext cx="914400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0"/>
          <p:cNvSpPr/>
          <p:nvPr/>
        </p:nvSpPr>
        <p:spPr>
          <a:xfrm>
            <a:off x="380400" y="382075"/>
            <a:ext cx="4572000" cy="4113000"/>
          </a:xfrm>
          <a:prstGeom prst="roundRect">
            <a:avLst>
              <a:gd fmla="val 1983" name="adj"/>
            </a:avLst>
          </a:prstGeom>
          <a:solidFill>
            <a:srgbClr val="002855">
              <a:alpha val="8823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9" name="Google Shape;139;p10" title="Image B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638974"/>
            <a:ext cx="9144001" cy="5045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10"/>
          <p:cNvCxnSpPr/>
          <p:nvPr/>
        </p:nvCxnSpPr>
        <p:spPr>
          <a:xfrm flipH="1" rot="10800000">
            <a:off x="2747675" y="175"/>
            <a:ext cx="300" cy="572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10"/>
          <p:cNvCxnSpPr/>
          <p:nvPr/>
        </p:nvCxnSpPr>
        <p:spPr>
          <a:xfrm rot="10800000">
            <a:off x="2747675" y="4271100"/>
            <a:ext cx="0" cy="872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2" name="Google Shape;142;p10" title="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600" y="655375"/>
            <a:ext cx="1107675" cy="62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0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10"/>
          <p:cNvSpPr txBox="1"/>
          <p:nvPr>
            <p:ph idx="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10"/>
          <p:cNvSpPr txBox="1"/>
          <p:nvPr>
            <p:ph type="title"/>
          </p:nvPr>
        </p:nvSpPr>
        <p:spPr>
          <a:xfrm>
            <a:off x="548700" y="1693700"/>
            <a:ext cx="42393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6" name="Google Shape;146;p10"/>
          <p:cNvSpPr txBox="1"/>
          <p:nvPr>
            <p:ph idx="1" type="subTitle"/>
          </p:nvPr>
        </p:nvSpPr>
        <p:spPr>
          <a:xfrm>
            <a:off x="548700" y="2933625"/>
            <a:ext cx="42393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0"/>
          <p:cNvSpPr txBox="1"/>
          <p:nvPr>
            <p:ph idx="3" type="subTitle"/>
          </p:nvPr>
        </p:nvSpPr>
        <p:spPr>
          <a:xfrm>
            <a:off x="548700" y="3643300"/>
            <a:ext cx="4239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pen Sans ExtraBold"/>
              <a:buNone/>
              <a:defRPr b="1" sz="1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0"/>
          <p:cNvSpPr txBox="1"/>
          <p:nvPr>
            <p:ph idx="4" type="body"/>
          </p:nvPr>
        </p:nvSpPr>
        <p:spPr>
          <a:xfrm>
            <a:off x="548961" y="4873752"/>
            <a:ext cx="2198714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9" name="Google Shape;149;p10"/>
          <p:cNvSpPr txBox="1"/>
          <p:nvPr/>
        </p:nvSpPr>
        <p:spPr>
          <a:xfrm>
            <a:off x="2288185" y="4965192"/>
            <a:ext cx="6138804" cy="14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public charity, IEEE is the world's largest technical professional organization dedicated to advancing technology for the benefit of humanity.</a:t>
            </a:r>
            <a:endParaRPr b="0" i="0" sz="6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- Image">
  <p:cSld name="9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1" title="sander-weeteling-KABfjuSOx74-unsplash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1"/>
          <p:cNvSpPr/>
          <p:nvPr/>
        </p:nvSpPr>
        <p:spPr>
          <a:xfrm>
            <a:off x="-3" y="0"/>
            <a:ext cx="9144000" cy="5143500"/>
          </a:xfrm>
          <a:prstGeom prst="rect">
            <a:avLst/>
          </a:prstGeom>
          <a:solidFill>
            <a:srgbClr val="002855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11"/>
          <p:cNvSpPr txBox="1"/>
          <p:nvPr/>
        </p:nvSpPr>
        <p:spPr>
          <a:xfrm>
            <a:off x="4" y="48165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en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‹#›</a:t>
            </a:fld>
            <a:endParaRPr b="1" i="0" sz="800" u="none" cap="none" strike="noStrike">
              <a:solidFill>
                <a:schemeClr val="accen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cxnSp>
        <p:nvCxnSpPr>
          <p:cNvPr id="154" name="Google Shape;154;p11"/>
          <p:cNvCxnSpPr/>
          <p:nvPr/>
        </p:nvCxnSpPr>
        <p:spPr>
          <a:xfrm rot="10800000">
            <a:off x="2747972" y="-25"/>
            <a:ext cx="0" cy="933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5" name="Google Shape;155;p11" title="Blue Divide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" y="4639599"/>
            <a:ext cx="9144003" cy="50452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/>
          <p:cNvSpPr txBox="1"/>
          <p:nvPr/>
        </p:nvSpPr>
        <p:spPr>
          <a:xfrm>
            <a:off x="4" y="48165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en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‹#›</a:t>
            </a:fld>
            <a:endParaRPr b="1" i="0" sz="8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pic>
        <p:nvPicPr>
          <p:cNvPr id="157" name="Google Shape;157;p11" title="LogoWhit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8022" y="4778461"/>
            <a:ext cx="772125" cy="2268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11"/>
          <p:cNvCxnSpPr/>
          <p:nvPr/>
        </p:nvCxnSpPr>
        <p:spPr>
          <a:xfrm rot="10800000">
            <a:off x="2747972" y="4210025"/>
            <a:ext cx="0" cy="933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11"/>
          <p:cNvSpPr txBox="1"/>
          <p:nvPr>
            <p:ph type="title"/>
          </p:nvPr>
        </p:nvSpPr>
        <p:spPr>
          <a:xfrm>
            <a:off x="496825" y="1758975"/>
            <a:ext cx="68898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" type="body"/>
          </p:nvPr>
        </p:nvSpPr>
        <p:spPr>
          <a:xfrm>
            <a:off x="548961" y="4873752"/>
            <a:ext cx="2199010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1" name="Google Shape;161;p11"/>
          <p:cNvSpPr txBox="1"/>
          <p:nvPr/>
        </p:nvSpPr>
        <p:spPr>
          <a:xfrm>
            <a:off x="2288185" y="4965192"/>
            <a:ext cx="6138804" cy="14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public charity, IEEE is the world's largest technical professional organization dedicated to advancing technology for the benefit of humanity.</a:t>
            </a:r>
            <a:endParaRPr b="0" i="0" sz="6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- Gradient">
  <p:cSld name="10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2" title="IEEE-Blue-Background-Divider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75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2" title="Blue Divide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639774"/>
            <a:ext cx="9144001" cy="50452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2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6" name="Google Shape;166;p12"/>
          <p:cNvCxnSpPr/>
          <p:nvPr/>
        </p:nvCxnSpPr>
        <p:spPr>
          <a:xfrm rot="10800000">
            <a:off x="2747975" y="150"/>
            <a:ext cx="0" cy="933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12"/>
          <p:cNvSpPr txBox="1"/>
          <p:nvPr>
            <p:ph idx="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8" name="Google Shape;168;p12" title="LogoWhit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8025" y="4778636"/>
            <a:ext cx="772125" cy="2268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12"/>
          <p:cNvCxnSpPr/>
          <p:nvPr/>
        </p:nvCxnSpPr>
        <p:spPr>
          <a:xfrm rot="10800000">
            <a:off x="2747975" y="4210200"/>
            <a:ext cx="0" cy="933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12"/>
          <p:cNvSpPr txBox="1"/>
          <p:nvPr>
            <p:ph type="title"/>
          </p:nvPr>
        </p:nvSpPr>
        <p:spPr>
          <a:xfrm>
            <a:off x="496825" y="1758975"/>
            <a:ext cx="68898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12"/>
          <p:cNvSpPr txBox="1"/>
          <p:nvPr>
            <p:ph idx="1" type="body"/>
          </p:nvPr>
        </p:nvSpPr>
        <p:spPr>
          <a:xfrm>
            <a:off x="548961" y="4873752"/>
            <a:ext cx="2199014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12"/>
          <p:cNvSpPr txBox="1"/>
          <p:nvPr/>
        </p:nvSpPr>
        <p:spPr>
          <a:xfrm>
            <a:off x="2288185" y="4965192"/>
            <a:ext cx="6138804" cy="14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public charity, IEEE is the world's largest technical professional organization dedicated to advancing technology for the benefit of humanity.</a:t>
            </a:r>
            <a:endParaRPr b="0" i="0" sz="6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- Small Image">
  <p:cSld name="1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arge telescope with hexagons&#10;&#10;AI-generated content may be incorrect." id="174" name="Google Shape;17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61599" y="335325"/>
            <a:ext cx="1963500" cy="4096500"/>
          </a:xfrm>
          <a:prstGeom prst="roundRect">
            <a:avLst>
              <a:gd fmla="val 5628" name="adj"/>
            </a:avLst>
          </a:prstGeom>
          <a:noFill/>
          <a:ln>
            <a:noFill/>
          </a:ln>
        </p:spPr>
      </p:pic>
      <p:sp>
        <p:nvSpPr>
          <p:cNvPr id="175" name="Google Shape;175;p13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6" name="Google Shape;176;p13"/>
          <p:cNvCxnSpPr/>
          <p:nvPr/>
        </p:nvCxnSpPr>
        <p:spPr>
          <a:xfrm rot="10800000">
            <a:off x="2747975" y="150"/>
            <a:ext cx="0" cy="933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13"/>
          <p:cNvSpPr txBox="1"/>
          <p:nvPr>
            <p:ph type="title"/>
          </p:nvPr>
        </p:nvSpPr>
        <p:spPr>
          <a:xfrm>
            <a:off x="496825" y="1758975"/>
            <a:ext cx="58563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8" name="Google Shape;178;p13"/>
          <p:cNvSpPr txBox="1"/>
          <p:nvPr>
            <p:ph idx="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9" name="Google Shape;179;p13" title="LogoBlu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8025" y="4779575"/>
            <a:ext cx="772125" cy="226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13"/>
          <p:cNvCxnSpPr/>
          <p:nvPr/>
        </p:nvCxnSpPr>
        <p:spPr>
          <a:xfrm rot="10800000">
            <a:off x="2747975" y="4210200"/>
            <a:ext cx="0" cy="933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548961" y="4873752"/>
            <a:ext cx="2199014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rgbClr val="00285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- Small Image Custom">
  <p:cSld name="13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4" name="Google Shape;184;p14"/>
          <p:cNvCxnSpPr/>
          <p:nvPr/>
        </p:nvCxnSpPr>
        <p:spPr>
          <a:xfrm rot="10800000">
            <a:off x="2747975" y="150"/>
            <a:ext cx="0" cy="933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4"/>
          <p:cNvSpPr txBox="1"/>
          <p:nvPr>
            <p:ph type="title"/>
          </p:nvPr>
        </p:nvSpPr>
        <p:spPr>
          <a:xfrm>
            <a:off x="496825" y="1758975"/>
            <a:ext cx="58563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86" name="Google Shape;186;p14" title="LogoBlu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98025" y="4779575"/>
            <a:ext cx="772125" cy="226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p14"/>
          <p:cNvCxnSpPr/>
          <p:nvPr/>
        </p:nvCxnSpPr>
        <p:spPr>
          <a:xfrm rot="10800000">
            <a:off x="2747975" y="4210200"/>
            <a:ext cx="0" cy="933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4"/>
          <p:cNvSpPr/>
          <p:nvPr>
            <p:ph idx="2" type="pic"/>
          </p:nvPr>
        </p:nvSpPr>
        <p:spPr>
          <a:xfrm>
            <a:off x="6961600" y="335325"/>
            <a:ext cx="1963500" cy="4096500"/>
          </a:xfrm>
          <a:prstGeom prst="roundRect">
            <a:avLst>
              <a:gd fmla="val 6656" name="adj"/>
            </a:avLst>
          </a:prstGeom>
          <a:noFill/>
          <a:ln>
            <a:noFill/>
          </a:ln>
        </p:spPr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548961" y="4873752"/>
            <a:ext cx="2199014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rgbClr val="00285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18pt">
  <p:cSld name="14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idx="1" type="body"/>
          </p:nvPr>
        </p:nvSpPr>
        <p:spPr>
          <a:xfrm>
            <a:off x="197400" y="1308384"/>
            <a:ext cx="85206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2" name="Google Shape;192;p15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15"/>
          <p:cNvSpPr txBox="1"/>
          <p:nvPr>
            <p:ph type="title"/>
          </p:nvPr>
        </p:nvSpPr>
        <p:spPr>
          <a:xfrm>
            <a:off x="197400" y="173736"/>
            <a:ext cx="8520600" cy="5746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" name="Google Shape;194;p15"/>
          <p:cNvSpPr txBox="1"/>
          <p:nvPr>
            <p:ph idx="2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i="0" sz="1600">
                <a:solidFill>
                  <a:srgbClr val="7F7F7F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5" name="Google Shape;195;p15"/>
          <p:cNvSpPr txBox="1"/>
          <p:nvPr>
            <p:ph idx="3" type="body"/>
          </p:nvPr>
        </p:nvSpPr>
        <p:spPr>
          <a:xfrm>
            <a:off x="548960" y="4873752"/>
            <a:ext cx="2176073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rgbClr val="00285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92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13pt">
  <p:cSld name="16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/>
          <p:nvPr>
            <p:ph idx="1" type="body"/>
          </p:nvPr>
        </p:nvSpPr>
        <p:spPr>
          <a:xfrm>
            <a:off x="197400" y="1308384"/>
            <a:ext cx="85206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300"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16"/>
          <p:cNvSpPr txBox="1"/>
          <p:nvPr>
            <p:ph type="title"/>
          </p:nvPr>
        </p:nvSpPr>
        <p:spPr>
          <a:xfrm>
            <a:off x="197400" y="1768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16"/>
          <p:cNvSpPr txBox="1"/>
          <p:nvPr>
            <p:ph idx="2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i="0" sz="1600">
                <a:solidFill>
                  <a:srgbClr val="7F7F7F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1" name="Google Shape;201;p16"/>
          <p:cNvSpPr txBox="1"/>
          <p:nvPr>
            <p:ph idx="3" type="body"/>
          </p:nvPr>
        </p:nvSpPr>
        <p:spPr>
          <a:xfrm>
            <a:off x="548960" y="4873752"/>
            <a:ext cx="2176073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rgbClr val="00285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idx="1" type="body"/>
          </p:nvPr>
        </p:nvSpPr>
        <p:spPr>
          <a:xfrm>
            <a:off x="197400" y="1308383"/>
            <a:ext cx="3999900" cy="31598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17"/>
          <p:cNvSpPr txBox="1"/>
          <p:nvPr>
            <p:ph idx="2" type="body"/>
          </p:nvPr>
        </p:nvSpPr>
        <p:spPr>
          <a:xfrm>
            <a:off x="4572000" y="1308383"/>
            <a:ext cx="4146000" cy="31598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17"/>
          <p:cNvSpPr txBox="1"/>
          <p:nvPr>
            <p:ph type="title"/>
          </p:nvPr>
        </p:nvSpPr>
        <p:spPr>
          <a:xfrm>
            <a:off x="197400" y="1768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" name="Google Shape;207;p17"/>
          <p:cNvSpPr txBox="1"/>
          <p:nvPr>
            <p:ph idx="3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i="0" sz="1600">
                <a:solidFill>
                  <a:srgbClr val="7F7F7F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8" name="Google Shape;208;p17"/>
          <p:cNvSpPr txBox="1"/>
          <p:nvPr>
            <p:ph idx="4" type="body"/>
          </p:nvPr>
        </p:nvSpPr>
        <p:spPr>
          <a:xfrm>
            <a:off x="548960" y="4873752"/>
            <a:ext cx="2176073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rgbClr val="00285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Single Image">
  <p:cSld name="19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18"/>
          <p:cNvSpPr/>
          <p:nvPr>
            <p:ph idx="2" type="pic"/>
          </p:nvPr>
        </p:nvSpPr>
        <p:spPr>
          <a:xfrm>
            <a:off x="4843475" y="1308384"/>
            <a:ext cx="3621600" cy="2932169"/>
          </a:xfrm>
          <a:prstGeom prst="roundRect">
            <a:avLst>
              <a:gd fmla="val 2657" name="adj"/>
            </a:avLst>
          </a:prstGeom>
          <a:noFill/>
          <a:ln>
            <a:noFill/>
          </a:ln>
        </p:spPr>
      </p:sp>
      <p:sp>
        <p:nvSpPr>
          <p:cNvPr id="212" name="Google Shape;212;p18"/>
          <p:cNvSpPr txBox="1"/>
          <p:nvPr>
            <p:ph idx="1" type="body"/>
          </p:nvPr>
        </p:nvSpPr>
        <p:spPr>
          <a:xfrm>
            <a:off x="197400" y="1308384"/>
            <a:ext cx="3999900" cy="29715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3" name="Google Shape;213;p18"/>
          <p:cNvSpPr txBox="1"/>
          <p:nvPr>
            <p:ph type="title"/>
          </p:nvPr>
        </p:nvSpPr>
        <p:spPr>
          <a:xfrm>
            <a:off x="197400" y="1768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" name="Google Shape;214;p18"/>
          <p:cNvSpPr txBox="1"/>
          <p:nvPr>
            <p:ph idx="3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i="0" sz="1600">
                <a:solidFill>
                  <a:srgbClr val="7F7F7F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5" name="Google Shape;215;p18"/>
          <p:cNvSpPr txBox="1"/>
          <p:nvPr>
            <p:ph idx="4" type="body"/>
          </p:nvPr>
        </p:nvSpPr>
        <p:spPr>
          <a:xfrm>
            <a:off x="548960" y="4873752"/>
            <a:ext cx="2176073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rgbClr val="00285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Multiple Images">
  <p:cSld name="20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197400" y="1308383"/>
            <a:ext cx="3999900" cy="2970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9" name="Google Shape;219;p19"/>
          <p:cNvSpPr/>
          <p:nvPr>
            <p:ph idx="2" type="pic"/>
          </p:nvPr>
        </p:nvSpPr>
        <p:spPr>
          <a:xfrm>
            <a:off x="4843475" y="1360711"/>
            <a:ext cx="1716000" cy="2892812"/>
          </a:xfrm>
          <a:prstGeom prst="roundRect">
            <a:avLst>
              <a:gd fmla="val 4685" name="adj"/>
            </a:avLst>
          </a:prstGeom>
          <a:noFill/>
          <a:ln>
            <a:noFill/>
          </a:ln>
        </p:spPr>
      </p:sp>
      <p:sp>
        <p:nvSpPr>
          <p:cNvPr id="220" name="Google Shape;220;p19"/>
          <p:cNvSpPr/>
          <p:nvPr>
            <p:ph idx="3" type="pic"/>
          </p:nvPr>
        </p:nvSpPr>
        <p:spPr>
          <a:xfrm>
            <a:off x="6749075" y="1360711"/>
            <a:ext cx="1716000" cy="1371600"/>
          </a:xfrm>
          <a:prstGeom prst="roundRect">
            <a:avLst>
              <a:gd fmla="val 3881" name="adj"/>
            </a:avLst>
          </a:prstGeom>
          <a:noFill/>
          <a:ln>
            <a:noFill/>
          </a:ln>
        </p:spPr>
      </p:sp>
      <p:sp>
        <p:nvSpPr>
          <p:cNvPr id="221" name="Google Shape;221;p19"/>
          <p:cNvSpPr/>
          <p:nvPr>
            <p:ph idx="4" type="pic"/>
          </p:nvPr>
        </p:nvSpPr>
        <p:spPr>
          <a:xfrm>
            <a:off x="6749075" y="2883877"/>
            <a:ext cx="1716000" cy="1369646"/>
          </a:xfrm>
          <a:prstGeom prst="roundRect">
            <a:avLst>
              <a:gd fmla="val 5565" name="adj"/>
            </a:avLst>
          </a:prstGeom>
          <a:noFill/>
          <a:ln>
            <a:noFill/>
          </a:ln>
        </p:spPr>
      </p:sp>
      <p:sp>
        <p:nvSpPr>
          <p:cNvPr id="222" name="Google Shape;222;p19"/>
          <p:cNvSpPr txBox="1"/>
          <p:nvPr>
            <p:ph type="title"/>
          </p:nvPr>
        </p:nvSpPr>
        <p:spPr>
          <a:xfrm>
            <a:off x="197400" y="1768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" name="Google Shape;223;p19"/>
          <p:cNvSpPr txBox="1"/>
          <p:nvPr>
            <p:ph idx="5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i="0" sz="1600">
                <a:solidFill>
                  <a:srgbClr val="7F7F7F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19"/>
          <p:cNvSpPr txBox="1"/>
          <p:nvPr>
            <p:ph idx="6" type="body"/>
          </p:nvPr>
        </p:nvSpPr>
        <p:spPr>
          <a:xfrm>
            <a:off x="548960" y="4873752"/>
            <a:ext cx="2176073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rgbClr val="00285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7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 txBox="1"/>
          <p:nvPr>
            <p:ph type="title"/>
          </p:nvPr>
        </p:nvSpPr>
        <p:spPr>
          <a:xfrm>
            <a:off x="197400" y="1768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20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20"/>
          <p:cNvSpPr txBox="1"/>
          <p:nvPr>
            <p:ph idx="1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i="0" sz="1600">
                <a:solidFill>
                  <a:srgbClr val="7F7F7F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9" name="Google Shape;229;p20"/>
          <p:cNvSpPr txBox="1"/>
          <p:nvPr>
            <p:ph idx="2" type="body"/>
          </p:nvPr>
        </p:nvSpPr>
        <p:spPr>
          <a:xfrm>
            <a:off x="548960" y="4873752"/>
            <a:ext cx="2176073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rgbClr val="00285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21"/>
          <p:cNvSpPr txBox="1"/>
          <p:nvPr>
            <p:ph idx="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p21" title="LogoBlu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98025" y="4779575"/>
            <a:ext cx="772125" cy="2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>
            <p:ph idx="1" type="body"/>
          </p:nvPr>
        </p:nvSpPr>
        <p:spPr>
          <a:xfrm>
            <a:off x="548961" y="4873752"/>
            <a:ext cx="2163962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rgbClr val="00285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- Gradient">
  <p:cSld name="1_Divider Slide - Gradient">
    <p:bg>
      <p:bgPr>
        <a:solidFill>
          <a:srgbClr val="002855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title="Blue Divide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639774"/>
            <a:ext cx="9144001" cy="50452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8" name="Google Shape;238;p22"/>
          <p:cNvCxnSpPr/>
          <p:nvPr/>
        </p:nvCxnSpPr>
        <p:spPr>
          <a:xfrm rot="10800000">
            <a:off x="2747975" y="150"/>
            <a:ext cx="0" cy="933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22"/>
          <p:cNvSpPr txBox="1"/>
          <p:nvPr>
            <p:ph idx="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" name="Google Shape;240;p22" title="Logo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8025" y="4778636"/>
            <a:ext cx="772125" cy="2268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" name="Google Shape;241;p22"/>
          <p:cNvCxnSpPr/>
          <p:nvPr/>
        </p:nvCxnSpPr>
        <p:spPr>
          <a:xfrm rot="10800000">
            <a:off x="2747975" y="4210200"/>
            <a:ext cx="0" cy="933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22"/>
          <p:cNvSpPr txBox="1"/>
          <p:nvPr>
            <p:ph type="title"/>
          </p:nvPr>
        </p:nvSpPr>
        <p:spPr>
          <a:xfrm>
            <a:off x="496825" y="1758975"/>
            <a:ext cx="68898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3" name="Google Shape;243;p22"/>
          <p:cNvSpPr txBox="1"/>
          <p:nvPr>
            <p:ph idx="1" type="body"/>
          </p:nvPr>
        </p:nvSpPr>
        <p:spPr>
          <a:xfrm>
            <a:off x="548961" y="4873752"/>
            <a:ext cx="2199014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  <a:defRPr sz="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8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22"/>
          <p:cNvSpPr txBox="1"/>
          <p:nvPr/>
        </p:nvSpPr>
        <p:spPr>
          <a:xfrm>
            <a:off x="2288185" y="4965192"/>
            <a:ext cx="6138804" cy="14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public charity, IEEE is the world's largest technical professional organization dedicated to advancing technology for the benefit of humanity.</a:t>
            </a:r>
            <a:endParaRPr b="0" i="0" sz="6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9.xml"/><Relationship Id="rId22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8.xml"/><Relationship Id="rId21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0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1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title="Basic Page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4643061"/>
            <a:ext cx="9144003" cy="50452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197400" y="248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 Light"/>
              <a:buNone/>
              <a:defRPr b="0" i="0" sz="2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97400" y="9556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accen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 title="LogoBlu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98025" y="4779575"/>
            <a:ext cx="772125" cy="2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2288185" y="4965192"/>
            <a:ext cx="6138804" cy="14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2855"/>
                </a:solidFill>
                <a:latin typeface="Open Sans"/>
                <a:ea typeface="Open Sans"/>
                <a:cs typeface="Open Sans"/>
                <a:sym typeface="Open Sans"/>
              </a:rPr>
              <a:t>A public charity, IEEE is the world's largest technical professional organization dedicated to advancing technology for the benefit of humanity.</a:t>
            </a:r>
            <a:endParaRPr b="0" i="0" sz="600" u="none" cap="none" strike="noStrike">
              <a:solidFill>
                <a:srgbClr val="0028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rand-experience.ieee.org/templates/ieee-powerpoint-templates/" TargetMode="External"/><Relationship Id="rId4" Type="http://schemas.openxmlformats.org/officeDocument/2006/relationships/hyperlink" Target="http://www.ieee.org/exd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idx="1" type="body"/>
          </p:nvPr>
        </p:nvSpPr>
        <p:spPr>
          <a:xfrm>
            <a:off x="197400" y="1308384"/>
            <a:ext cx="85206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rPr lang="en"/>
              <a:t>This template is designed to be used as a Microsoft PowerPoint template only. </a:t>
            </a:r>
            <a:br>
              <a:rPr lang="en"/>
            </a:br>
            <a:r>
              <a:rPr lang="en">
                <a:highlight>
                  <a:srgbClr val="FFFF00"/>
                </a:highlight>
              </a:rPr>
              <a:t>Modifications of the IEEE Master Brand and IEEE tagline on the template is prohibited.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rPr b="1" lang="en"/>
              <a:t>Note: </a:t>
            </a:r>
            <a:r>
              <a:rPr lang="en"/>
              <a:t>Downloading your file and saving in a different format may cause technical issues. </a:t>
            </a:r>
            <a:br>
              <a:rPr lang="en"/>
            </a:br>
            <a:r>
              <a:rPr lang="en"/>
              <a:t>For example, uploading a PowerPoint file to Google Drive, converting to Google Slides, and exporting back to PowerPoint may create issues.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rPr lang="en"/>
              <a:t>The IEEE Corporate Presentation is available for download in the following formats on the</a:t>
            </a:r>
            <a:br>
              <a:rPr lang="en"/>
            </a:br>
            <a:r>
              <a:rPr b="1" lang="en" u="sng">
                <a:solidFill>
                  <a:schemeClr val="hlink"/>
                </a:solidFill>
                <a:hlinkClick r:id="rId3"/>
              </a:rPr>
              <a:t>IEEE Brand Experience site</a:t>
            </a:r>
            <a:r>
              <a:rPr lang="en"/>
              <a:t>:</a:t>
            </a:r>
            <a:endParaRPr/>
          </a:p>
          <a:p>
            <a:pPr indent="-2286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9730"/>
              <a:buChar char="●"/>
            </a:pPr>
            <a:r>
              <a:rPr lang="en"/>
              <a:t>Microsoft PowerPoint template</a:t>
            </a:r>
            <a:endParaRPr/>
          </a:p>
          <a:p>
            <a:pPr indent="-2286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9730"/>
              <a:buChar char="●"/>
            </a:pPr>
            <a:r>
              <a:rPr lang="en"/>
              <a:t>Google Slides template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rPr i="1" lang="en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Questions pertaining to this template can be submitted at: </a:t>
            </a:r>
            <a:r>
              <a:rPr i="1" lang="en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www.ieee.org/exd</a:t>
            </a:r>
            <a:endParaRPr i="1">
              <a:solidFill>
                <a:srgbClr val="22222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143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/>
          </a:p>
        </p:txBody>
      </p:sp>
      <p:sp>
        <p:nvSpPr>
          <p:cNvPr id="250" name="Google Shape;250;p23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23"/>
          <p:cNvSpPr txBox="1"/>
          <p:nvPr>
            <p:ph type="title"/>
          </p:nvPr>
        </p:nvSpPr>
        <p:spPr>
          <a:xfrm>
            <a:off x="201168" y="17373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How to use the IEEE Corporate Presentation template</a:t>
            </a:r>
            <a:endParaRPr/>
          </a:p>
        </p:txBody>
      </p:sp>
      <p:sp>
        <p:nvSpPr>
          <p:cNvPr id="252" name="Google Shape;252;p23"/>
          <p:cNvSpPr txBox="1"/>
          <p:nvPr>
            <p:ph idx="2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53" name="Google Shape;253;p23"/>
          <p:cNvSpPr txBox="1"/>
          <p:nvPr>
            <p:ph idx="3" type="body"/>
          </p:nvPr>
        </p:nvSpPr>
        <p:spPr>
          <a:xfrm>
            <a:off x="548961" y="4873752"/>
            <a:ext cx="2176072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24"/>
          <p:cNvSpPr txBox="1"/>
          <p:nvPr>
            <p:ph idx="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24"/>
          <p:cNvSpPr txBox="1"/>
          <p:nvPr>
            <p:ph type="title"/>
          </p:nvPr>
        </p:nvSpPr>
        <p:spPr>
          <a:xfrm>
            <a:off x="548700" y="1693700"/>
            <a:ext cx="42393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" sz="2100"/>
              <a:t>Real-Time Training-Free Multimodal Identity Verification using Biometrical Score Fusion</a:t>
            </a:r>
            <a:endParaRPr sz="2100"/>
          </a:p>
        </p:txBody>
      </p:sp>
      <p:sp>
        <p:nvSpPr>
          <p:cNvPr id="261" name="Google Shape;261;p24"/>
          <p:cNvSpPr txBox="1"/>
          <p:nvPr>
            <p:ph idx="1" type="subTitle"/>
          </p:nvPr>
        </p:nvSpPr>
        <p:spPr>
          <a:xfrm>
            <a:off x="548700" y="2933625"/>
            <a:ext cx="42393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</a:pPr>
            <a:r>
              <a:rPr lang="en"/>
              <a:t>Antonio Labinjan, Nikola Tanković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</a:pPr>
            <a:r>
              <a:rPr lang="en"/>
              <a:t>Faculty of Informatics, Juraj Dobrila University, Pula</a:t>
            </a:r>
            <a:endParaRPr/>
          </a:p>
        </p:txBody>
      </p:sp>
      <p:sp>
        <p:nvSpPr>
          <p:cNvPr id="262" name="Google Shape;262;p24"/>
          <p:cNvSpPr txBox="1"/>
          <p:nvPr>
            <p:ph idx="3" type="subTitle"/>
          </p:nvPr>
        </p:nvSpPr>
        <p:spPr>
          <a:xfrm>
            <a:off x="548700" y="3643300"/>
            <a:ext cx="4239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pen Sans ExtraBold"/>
              <a:buNone/>
            </a:pPr>
            <a:r>
              <a:t/>
            </a:r>
            <a:endParaRPr/>
          </a:p>
        </p:txBody>
      </p:sp>
      <p:sp>
        <p:nvSpPr>
          <p:cNvPr id="263" name="Google Shape;263;p24"/>
          <p:cNvSpPr txBox="1"/>
          <p:nvPr>
            <p:ph idx="4" type="body"/>
          </p:nvPr>
        </p:nvSpPr>
        <p:spPr>
          <a:xfrm>
            <a:off x="548961" y="4873752"/>
            <a:ext cx="21987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</a:pPr>
            <a:r>
              <a:t/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6459950" y="885800"/>
            <a:ext cx="1438800" cy="12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/>
          <p:nvPr>
            <p:ph idx="1" type="body"/>
          </p:nvPr>
        </p:nvSpPr>
        <p:spPr>
          <a:xfrm>
            <a:off x="197400" y="1308384"/>
            <a:ext cx="85206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Face recognition                                                                  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50">
                <a:solidFill>
                  <a:srgbClr val="15202B"/>
                </a:solidFill>
                <a:latin typeface="Calibri"/>
                <a:ea typeface="Calibri"/>
                <a:cs typeface="Calibri"/>
                <a:sym typeface="Calibri"/>
              </a:rPr>
              <a:t>Sensitive to illumination changes</a:t>
            </a:r>
            <a:endParaRPr sz="1450">
              <a:solidFill>
                <a:srgbClr val="15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450"/>
              <a:buFont typeface="Calibri"/>
              <a:buChar char="●"/>
            </a:pPr>
            <a:r>
              <a:rPr lang="en" sz="1450">
                <a:solidFill>
                  <a:srgbClr val="15202B"/>
                </a:solidFill>
                <a:latin typeface="Calibri"/>
                <a:ea typeface="Calibri"/>
                <a:cs typeface="Calibri"/>
                <a:sym typeface="Calibri"/>
              </a:rPr>
              <a:t>Degrades under pose variation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450"/>
              <a:buFont typeface="Calibri"/>
              <a:buChar char="●"/>
            </a:pPr>
            <a:r>
              <a:rPr lang="en" sz="1450">
                <a:solidFill>
                  <a:srgbClr val="15202B"/>
                </a:solidFill>
                <a:latin typeface="Calibri"/>
                <a:ea typeface="Calibri"/>
                <a:cs typeface="Calibri"/>
                <a:sym typeface="Calibri"/>
              </a:rPr>
              <a:t>Fails on motion blur &amp; occlusion</a:t>
            </a:r>
            <a:endParaRPr sz="1450">
              <a:solidFill>
                <a:srgbClr val="15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5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15202B"/>
                </a:solidFill>
                <a:latin typeface="Calibri"/>
                <a:ea typeface="Calibri"/>
                <a:cs typeface="Calibri"/>
                <a:sym typeface="Calibri"/>
              </a:rPr>
              <a:t>Voice recognition</a:t>
            </a:r>
            <a:endParaRPr sz="1450">
              <a:solidFill>
                <a:srgbClr val="15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450"/>
              <a:buFont typeface="Calibri"/>
              <a:buChar char="●"/>
            </a:pPr>
            <a:r>
              <a:rPr lang="en" sz="1450">
                <a:solidFill>
                  <a:srgbClr val="15202B"/>
                </a:solidFill>
                <a:latin typeface="Calibri"/>
                <a:ea typeface="Calibri"/>
                <a:cs typeface="Calibri"/>
                <a:sym typeface="Calibri"/>
              </a:rPr>
              <a:t>Degrades under ambient noise</a:t>
            </a:r>
            <a:endParaRPr sz="1450">
              <a:solidFill>
                <a:srgbClr val="15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450"/>
              <a:buFont typeface="Calibri"/>
              <a:buChar char="●"/>
            </a:pPr>
            <a:r>
              <a:rPr lang="en" sz="1450">
                <a:solidFill>
                  <a:srgbClr val="15202B"/>
                </a:solidFill>
                <a:latin typeface="Calibri"/>
                <a:ea typeface="Calibri"/>
                <a:cs typeface="Calibri"/>
                <a:sym typeface="Calibri"/>
              </a:rPr>
              <a:t>Struggles with reverberant rooms</a:t>
            </a:r>
            <a:endParaRPr sz="1450">
              <a:solidFill>
                <a:srgbClr val="15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450"/>
              <a:buFont typeface="Calibri"/>
              <a:buChar char="●"/>
            </a:pPr>
            <a:r>
              <a:rPr lang="en" sz="1450">
                <a:solidFill>
                  <a:srgbClr val="15202B"/>
                </a:solidFill>
                <a:latin typeface="Calibri"/>
                <a:ea typeface="Calibri"/>
                <a:cs typeface="Calibri"/>
                <a:sym typeface="Calibri"/>
              </a:rPr>
              <a:t>Vulnerable to cross-speaker confusion</a:t>
            </a:r>
            <a:endParaRPr sz="1450">
              <a:solidFill>
                <a:srgbClr val="15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15202B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450">
              <a:solidFill>
                <a:srgbClr val="15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15202B"/>
                </a:solidFill>
                <a:latin typeface="Calibri"/>
                <a:ea typeface="Calibri"/>
                <a:cs typeface="Calibri"/>
                <a:sym typeface="Calibri"/>
              </a:rPr>
              <a:t>Results in elevated false rejection and false acceptance rates in deployment </a:t>
            </a:r>
            <a:endParaRPr sz="1450">
              <a:solidFill>
                <a:srgbClr val="1520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25"/>
          <p:cNvSpPr txBox="1"/>
          <p:nvPr>
            <p:ph type="title"/>
          </p:nvPr>
        </p:nvSpPr>
        <p:spPr>
          <a:xfrm>
            <a:off x="197400" y="173736"/>
            <a:ext cx="8520600" cy="5746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272" name="Google Shape;272;p25"/>
          <p:cNvSpPr txBox="1"/>
          <p:nvPr>
            <p:ph idx="2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3200"/>
              <a:buFont typeface="Cambria"/>
              <a:buNone/>
            </a:pPr>
            <a:r>
              <a:rPr lang="en" sz="2000">
                <a:solidFill>
                  <a:srgbClr val="0F1B3D"/>
                </a:solidFill>
                <a:latin typeface="Cambria"/>
                <a:ea typeface="Cambria"/>
                <a:cs typeface="Cambria"/>
                <a:sym typeface="Cambria"/>
              </a:rPr>
              <a:t>Unimodal Biometrics Can Fail in the Real World</a:t>
            </a:r>
            <a:endParaRPr b="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400"/>
          </a:p>
        </p:txBody>
      </p:sp>
      <p:sp>
        <p:nvSpPr>
          <p:cNvPr id="273" name="Google Shape;273;p25"/>
          <p:cNvSpPr txBox="1"/>
          <p:nvPr>
            <p:ph idx="3" type="body"/>
          </p:nvPr>
        </p:nvSpPr>
        <p:spPr>
          <a:xfrm>
            <a:off x="548710" y="4816777"/>
            <a:ext cx="2176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 ExtraBold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26"/>
          <p:cNvSpPr txBox="1"/>
          <p:nvPr>
            <p:ph type="title"/>
          </p:nvPr>
        </p:nvSpPr>
        <p:spPr>
          <a:xfrm>
            <a:off x="201168" y="17373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280" name="Google Shape;280;p26"/>
          <p:cNvSpPr txBox="1"/>
          <p:nvPr>
            <p:ph idx="2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2000">
                <a:solidFill>
                  <a:srgbClr val="0F1B3D"/>
                </a:solidFill>
                <a:latin typeface="Cambria"/>
                <a:ea typeface="Cambria"/>
                <a:cs typeface="Cambria"/>
                <a:sym typeface="Cambria"/>
              </a:rPr>
              <a:t>The Gap in Existing Multimodal Fusion</a:t>
            </a:r>
            <a:endParaRPr sz="2000">
              <a:solidFill>
                <a:srgbClr val="0F1B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1" name="Google Shape;281;p26"/>
          <p:cNvSpPr txBox="1"/>
          <p:nvPr>
            <p:ph idx="3" type="body"/>
          </p:nvPr>
        </p:nvSpPr>
        <p:spPr>
          <a:xfrm>
            <a:off x="548711" y="4847952"/>
            <a:ext cx="2176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166935" y="1400085"/>
            <a:ext cx="2286000" cy="10059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1185" y="1400085"/>
            <a:ext cx="2286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Paired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2487174" y="1802371"/>
            <a:ext cx="3933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2914730" y="1400085"/>
            <a:ext cx="2286000" cy="10059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2880480" y="1400085"/>
            <a:ext cx="2286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Joint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5234969" y="1802371"/>
            <a:ext cx="3933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6"/>
          <p:cNvSpPr/>
          <p:nvPr/>
        </p:nvSpPr>
        <p:spPr>
          <a:xfrm>
            <a:off x="5696775" y="1435985"/>
            <a:ext cx="2286000" cy="10059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5696775" y="1400085"/>
            <a:ext cx="2286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Fused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166925" y="2539950"/>
            <a:ext cx="7815900" cy="22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multimodal fusion needs synchronized, paired datasets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Joint training adds computational overhead and overfitting risk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Prevents independent upgrades of face / voice sub-models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 txBox="1"/>
          <p:nvPr>
            <p:ph idx="1" type="body"/>
          </p:nvPr>
        </p:nvSpPr>
        <p:spPr>
          <a:xfrm>
            <a:off x="197400" y="1308384"/>
            <a:ext cx="85206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450">
                <a:solidFill>
                  <a:srgbClr val="15202B"/>
                </a:solidFill>
                <a:latin typeface="Calibri"/>
                <a:ea typeface="Calibri"/>
                <a:cs typeface="Calibri"/>
                <a:sym typeface="Calibri"/>
              </a:rPr>
              <a:t>Real-time multimodal framework fusing face and voice biometrics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450">
                <a:solidFill>
                  <a:srgbClr val="15202B"/>
                </a:solidFill>
                <a:latin typeface="Calibri"/>
                <a:ea typeface="Calibri"/>
                <a:cs typeface="Calibri"/>
                <a:sym typeface="Calibri"/>
              </a:rPr>
              <a:t>Unified Qdrant retrieval backend for heterogeneous embeddings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450">
                <a:solidFill>
                  <a:srgbClr val="15202B"/>
                </a:solidFill>
                <a:latin typeface="Calibri"/>
                <a:ea typeface="Calibri"/>
                <a:cs typeface="Calibri"/>
                <a:sym typeface="Calibri"/>
              </a:rPr>
              <a:t>Training-free fusion - no joint optimization or paired data required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450">
                <a:solidFill>
                  <a:srgbClr val="15202B"/>
                </a:solidFill>
                <a:latin typeface="Calibri"/>
                <a:ea typeface="Calibri"/>
                <a:cs typeface="Calibri"/>
                <a:sym typeface="Calibri"/>
              </a:rPr>
              <a:t>Temporal decision layer: agreement, missing-stream, and conflict states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7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27"/>
          <p:cNvSpPr txBox="1"/>
          <p:nvPr>
            <p:ph type="title"/>
          </p:nvPr>
        </p:nvSpPr>
        <p:spPr>
          <a:xfrm>
            <a:off x="197400" y="1768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Arial"/>
              <a:buNone/>
            </a:pPr>
            <a:r>
              <a:rPr lang="en" sz="2100"/>
              <a:t>Real-Time Training-Free Multimodal Identity Verification using Biometrical Score Fusion</a:t>
            </a:r>
            <a:endParaRPr/>
          </a:p>
        </p:txBody>
      </p:sp>
      <p:sp>
        <p:nvSpPr>
          <p:cNvPr id="298" name="Google Shape;298;p27"/>
          <p:cNvSpPr txBox="1"/>
          <p:nvPr>
            <p:ph idx="2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Contributions</a:t>
            </a:r>
            <a:endParaRPr/>
          </a:p>
        </p:txBody>
      </p:sp>
      <p:sp>
        <p:nvSpPr>
          <p:cNvPr id="299" name="Google Shape;299;p27"/>
          <p:cNvSpPr txBox="1"/>
          <p:nvPr>
            <p:ph idx="3" type="body"/>
          </p:nvPr>
        </p:nvSpPr>
        <p:spPr>
          <a:xfrm>
            <a:off x="548960" y="4873752"/>
            <a:ext cx="2176073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/>
          <p:nvPr/>
        </p:nvSpPr>
        <p:spPr>
          <a:xfrm>
            <a:off x="770019" y="9527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487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3E6487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-1156656" y="-313122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635700" y="578575"/>
            <a:ext cx="2030100" cy="699900"/>
          </a:xfrm>
          <a:prstGeom prst="roundRect">
            <a:avLst>
              <a:gd fmla="val 4000" name="adj"/>
            </a:avLst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8"/>
          <p:cNvSpPr/>
          <p:nvPr/>
        </p:nvSpPr>
        <p:spPr>
          <a:xfrm>
            <a:off x="635675" y="578575"/>
            <a:ext cx="20301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Camera Node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6126601" y="578725"/>
            <a:ext cx="2331600" cy="699900"/>
          </a:xfrm>
          <a:prstGeom prst="roundRect">
            <a:avLst>
              <a:gd fmla="val 4000" name="adj"/>
            </a:avLst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8"/>
          <p:cNvSpPr/>
          <p:nvPr/>
        </p:nvSpPr>
        <p:spPr>
          <a:xfrm>
            <a:off x="5783954" y="578585"/>
            <a:ext cx="30174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Microphone Node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434400" y="1308510"/>
            <a:ext cx="201300" cy="320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8"/>
          <p:cNvSpPr/>
          <p:nvPr/>
        </p:nvSpPr>
        <p:spPr>
          <a:xfrm>
            <a:off x="7192130" y="1308585"/>
            <a:ext cx="201300" cy="320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8"/>
          <p:cNvSpPr/>
          <p:nvPr/>
        </p:nvSpPr>
        <p:spPr>
          <a:xfrm>
            <a:off x="635700" y="1673675"/>
            <a:ext cx="2030100" cy="699900"/>
          </a:xfrm>
          <a:prstGeom prst="roundRect">
            <a:avLst>
              <a:gd fmla="val 4000" name="adj"/>
            </a:avLst>
          </a:prstGeom>
          <a:solidFill>
            <a:srgbClr val="17223F"/>
          </a:solidFill>
          <a:ln cap="flat" cmpd="sng" w="12700">
            <a:solidFill>
              <a:srgbClr val="3E64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8"/>
          <p:cNvSpPr/>
          <p:nvPr/>
        </p:nvSpPr>
        <p:spPr>
          <a:xfrm>
            <a:off x="101374" y="1658625"/>
            <a:ext cx="30174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ViT-B/32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512-D face embedding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6158551" y="1658675"/>
            <a:ext cx="2299800" cy="699900"/>
          </a:xfrm>
          <a:prstGeom prst="roundRect">
            <a:avLst>
              <a:gd fmla="val 4000" name="adj"/>
            </a:avLst>
          </a:prstGeom>
          <a:solidFill>
            <a:srgbClr val="17223F"/>
          </a:solidFill>
          <a:ln cap="flat" cmpd="sng" w="12700">
            <a:solidFill>
              <a:srgbClr val="3E64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8"/>
          <p:cNvSpPr/>
          <p:nvPr/>
        </p:nvSpPr>
        <p:spPr>
          <a:xfrm>
            <a:off x="5783954" y="1658625"/>
            <a:ext cx="30174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VoiceNet CNN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128-D speaker embedding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434400" y="2388550"/>
            <a:ext cx="201300" cy="320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8"/>
          <p:cNvSpPr/>
          <p:nvPr/>
        </p:nvSpPr>
        <p:spPr>
          <a:xfrm>
            <a:off x="7932480" y="2388550"/>
            <a:ext cx="201300" cy="320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8"/>
          <p:cNvSpPr/>
          <p:nvPr/>
        </p:nvSpPr>
        <p:spPr>
          <a:xfrm>
            <a:off x="3317450" y="2768577"/>
            <a:ext cx="2292300" cy="559200"/>
          </a:xfrm>
          <a:prstGeom prst="roundRect">
            <a:avLst>
              <a:gd fmla="val 4000" name="adj"/>
            </a:avLst>
          </a:prstGeom>
          <a:solidFill>
            <a:srgbClr val="3E6487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8"/>
          <p:cNvSpPr/>
          <p:nvPr/>
        </p:nvSpPr>
        <p:spPr>
          <a:xfrm>
            <a:off x="3317450" y="2768577"/>
            <a:ext cx="22923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Unified Vector DB (Qdrant)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cosine search · shared identity metadata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4284024" y="3508590"/>
            <a:ext cx="201300" cy="274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8"/>
          <p:cNvSpPr/>
          <p:nvPr/>
        </p:nvSpPr>
        <p:spPr>
          <a:xfrm>
            <a:off x="3036075" y="4437553"/>
            <a:ext cx="2791200" cy="423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"/>
          <p:cNvSpPr/>
          <p:nvPr/>
        </p:nvSpPr>
        <p:spPr>
          <a:xfrm>
            <a:off x="3072350" y="4334452"/>
            <a:ext cx="27825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150"/>
              <a:buFont typeface="Calibri"/>
              <a:buNone/>
            </a:pPr>
            <a:r>
              <a:rPr b="1" i="0" lang="en" sz="9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State Logic Engine → Identity Verification Output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9797856" y="5475030"/>
            <a:ext cx="5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3072350" y="3684090"/>
            <a:ext cx="2782500" cy="442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3118775" y="3642178"/>
            <a:ext cx="27825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50"/>
              <a:buFont typeface="Calibri"/>
              <a:buNone/>
            </a:pPr>
            <a:r>
              <a:rPr b="1" i="0" lang="en" sz="9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Temporal Stream Aligner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50"/>
              <a:buFont typeface="Calibri"/>
              <a:buNone/>
            </a:pPr>
            <a:r>
              <a:rPr b="1" i="0" lang="en" sz="9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peak match (Cᵥ, Cₐ) per identity, before state logic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28"/>
          <p:cNvCxnSpPr>
            <a:stCxn id="311" idx="0"/>
            <a:endCxn id="315" idx="0"/>
          </p:cNvCxnSpPr>
          <p:nvPr/>
        </p:nvCxnSpPr>
        <p:spPr>
          <a:xfrm>
            <a:off x="7292780" y="1308585"/>
            <a:ext cx="0" cy="350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" name="Google Shape;327;p28"/>
          <p:cNvCxnSpPr>
            <a:stCxn id="313" idx="2"/>
            <a:endCxn id="319" idx="1"/>
          </p:cNvCxnSpPr>
          <p:nvPr/>
        </p:nvCxnSpPr>
        <p:spPr>
          <a:xfrm>
            <a:off x="1610074" y="2358525"/>
            <a:ext cx="1707300" cy="6897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p28"/>
          <p:cNvCxnSpPr>
            <a:stCxn id="315" idx="2"/>
            <a:endCxn id="319" idx="3"/>
          </p:cNvCxnSpPr>
          <p:nvPr/>
        </p:nvCxnSpPr>
        <p:spPr>
          <a:xfrm flipH="1">
            <a:off x="5609654" y="2358525"/>
            <a:ext cx="1683000" cy="6897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" name="Google Shape;329;p28"/>
          <p:cNvCxnSpPr/>
          <p:nvPr/>
        </p:nvCxnSpPr>
        <p:spPr>
          <a:xfrm>
            <a:off x="4431674" y="4144985"/>
            <a:ext cx="0" cy="2742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28"/>
          <p:cNvCxnSpPr/>
          <p:nvPr/>
        </p:nvCxnSpPr>
        <p:spPr>
          <a:xfrm>
            <a:off x="4423574" y="3327765"/>
            <a:ext cx="8100" cy="3144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" name="Google Shape;331;p28"/>
          <p:cNvSpPr/>
          <p:nvPr/>
        </p:nvSpPr>
        <p:spPr>
          <a:xfrm>
            <a:off x="1509430" y="1316035"/>
            <a:ext cx="201300" cy="320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" name="Google Shape;332;p28"/>
          <p:cNvCxnSpPr/>
          <p:nvPr/>
        </p:nvCxnSpPr>
        <p:spPr>
          <a:xfrm>
            <a:off x="1650730" y="1301035"/>
            <a:ext cx="0" cy="350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idx="1" type="body"/>
          </p:nvPr>
        </p:nvSpPr>
        <p:spPr>
          <a:xfrm>
            <a:off x="119950" y="2686150"/>
            <a:ext cx="8923800" cy="17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Builds on prior zero-shot work (Labinjan et al.) - encoder unchanged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Robust to domain shifts: pose, illumination and blur variation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Migrated retrieval backend from FAISS to Qdrant for unified infrastructure</a:t>
            </a:r>
            <a:endParaRPr/>
          </a:p>
        </p:txBody>
      </p:sp>
      <p:sp>
        <p:nvSpPr>
          <p:cNvPr id="338" name="Google Shape;338;p29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29"/>
          <p:cNvSpPr txBox="1"/>
          <p:nvPr>
            <p:ph type="title"/>
          </p:nvPr>
        </p:nvSpPr>
        <p:spPr>
          <a:xfrm>
            <a:off x="197400" y="1768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Visual pipeline</a:t>
            </a:r>
            <a:endParaRPr/>
          </a:p>
        </p:txBody>
      </p:sp>
      <p:sp>
        <p:nvSpPr>
          <p:cNvPr id="340" name="Google Shape;340;p29"/>
          <p:cNvSpPr txBox="1"/>
          <p:nvPr>
            <p:ph idx="3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Face recognition algorithm </a:t>
            </a:r>
            <a:endParaRPr/>
          </a:p>
        </p:txBody>
      </p:sp>
      <p:sp>
        <p:nvSpPr>
          <p:cNvPr id="341" name="Google Shape;341;p29"/>
          <p:cNvSpPr txBox="1"/>
          <p:nvPr>
            <p:ph idx="4" type="body"/>
          </p:nvPr>
        </p:nvSpPr>
        <p:spPr>
          <a:xfrm>
            <a:off x="548960" y="4873752"/>
            <a:ext cx="2176073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</a:pPr>
            <a:r>
              <a:t/>
            </a:r>
            <a:endParaRPr/>
          </a:p>
        </p:txBody>
      </p:sp>
      <p:pic>
        <p:nvPicPr>
          <p:cNvPr id="342" name="Google Shape;3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50" y="1216550"/>
            <a:ext cx="8923727" cy="13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0"/>
          <p:cNvSpPr txBox="1"/>
          <p:nvPr>
            <p:ph idx="1" type="body"/>
          </p:nvPr>
        </p:nvSpPr>
        <p:spPr>
          <a:xfrm>
            <a:off x="119950" y="2686150"/>
            <a:ext cx="8923800" cy="17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Trained closed-set on VoxCeleb: Conv2d + BatchNorm + MaxPool x5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“truncation trick”: Softmax head used only for training, then discarded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Remaining backbone reused as zero-shot open-set speaker embedding extractor</a:t>
            </a:r>
            <a:endParaRPr/>
          </a:p>
        </p:txBody>
      </p:sp>
      <p:sp>
        <p:nvSpPr>
          <p:cNvPr id="348" name="Google Shape;348;p30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30"/>
          <p:cNvSpPr txBox="1"/>
          <p:nvPr>
            <p:ph type="title"/>
          </p:nvPr>
        </p:nvSpPr>
        <p:spPr>
          <a:xfrm>
            <a:off x="197400" y="1768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Audio pipeline</a:t>
            </a:r>
            <a:endParaRPr/>
          </a:p>
        </p:txBody>
      </p:sp>
      <p:sp>
        <p:nvSpPr>
          <p:cNvPr id="350" name="Google Shape;350;p30"/>
          <p:cNvSpPr txBox="1"/>
          <p:nvPr>
            <p:ph idx="3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Voice recognition algorithm </a:t>
            </a:r>
            <a:endParaRPr/>
          </a:p>
        </p:txBody>
      </p:sp>
      <p:sp>
        <p:nvSpPr>
          <p:cNvPr id="351" name="Google Shape;351;p30"/>
          <p:cNvSpPr txBox="1"/>
          <p:nvPr>
            <p:ph idx="4" type="body"/>
          </p:nvPr>
        </p:nvSpPr>
        <p:spPr>
          <a:xfrm>
            <a:off x="548960" y="4873752"/>
            <a:ext cx="2176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</a:pPr>
            <a:r>
              <a:t/>
            </a:r>
            <a:endParaRPr/>
          </a:p>
        </p:txBody>
      </p:sp>
      <p:pic>
        <p:nvPicPr>
          <p:cNvPr id="352" name="Google Shape;35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8960"/>
            <a:ext cx="7742156" cy="1164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1"/>
          <p:cNvSpPr txBox="1"/>
          <p:nvPr>
            <p:ph type="title"/>
          </p:nvPr>
        </p:nvSpPr>
        <p:spPr>
          <a:xfrm>
            <a:off x="197400" y="1768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Infrastructure</a:t>
            </a:r>
            <a:endParaRPr/>
          </a:p>
        </p:txBody>
      </p:sp>
      <p:sp>
        <p:nvSpPr>
          <p:cNvPr id="359" name="Google Shape;359;p31"/>
          <p:cNvSpPr txBox="1"/>
          <p:nvPr>
            <p:ph idx="3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Qdrant unification</a:t>
            </a:r>
            <a:endParaRPr/>
          </a:p>
        </p:txBody>
      </p:sp>
      <p:sp>
        <p:nvSpPr>
          <p:cNvPr id="360" name="Google Shape;360;p31"/>
          <p:cNvSpPr txBox="1"/>
          <p:nvPr>
            <p:ph idx="4" type="body"/>
          </p:nvPr>
        </p:nvSpPr>
        <p:spPr>
          <a:xfrm>
            <a:off x="548960" y="4873752"/>
            <a:ext cx="2176073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</a:pPr>
            <a:r>
              <a:t/>
            </a:r>
            <a:endParaRPr/>
          </a:p>
        </p:txBody>
      </p:sp>
      <p:graphicFrame>
        <p:nvGraphicFramePr>
          <p:cNvPr id="361" name="Google Shape;361;p31"/>
          <p:cNvGraphicFramePr/>
          <p:nvPr/>
        </p:nvGraphicFramePr>
        <p:xfrm>
          <a:off x="760800" y="128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{D47EBABE-FC20-478F-8854-4FBD34AEA2CE}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Two Separate FAISS Indexes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Unified Qdrant Backend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Two </a:t>
                      </a:r>
                      <a:r>
                        <a:rPr lang="en" sz="1200"/>
                        <a:t>vector indexes to maintain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Centralized vector storage and retrieval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Duplicated identity metadata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Shared identity and metadata schema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Manual sync across storage layers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Modality-specific similarity retained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Separate persistence mechanisms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One </a:t>
                      </a:r>
                      <a:r>
                        <a:rPr lang="en" sz="1200"/>
                        <a:t>deployment configuration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2" name="Google Shape;362;p31"/>
          <p:cNvSpPr txBox="1"/>
          <p:nvPr/>
        </p:nvSpPr>
        <p:spPr>
          <a:xfrm>
            <a:off x="1031675" y="3404350"/>
            <a:ext cx="6816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i="1" lang="en" sz="12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Clarification: Qdrant unifies infrastructure and identity metadata - not the vector spaces themselves. Face (512-D) and voice (128-D) embeddings remain separate.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8" name="Google Shape;368;p32"/>
          <p:cNvSpPr txBox="1"/>
          <p:nvPr>
            <p:ph idx="1" type="body"/>
          </p:nvPr>
        </p:nvSpPr>
        <p:spPr>
          <a:xfrm>
            <a:off x="197400" y="1308375"/>
            <a:ext cx="3999900" cy="27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500"/>
              <a:buFont typeface="Calibri"/>
              <a:buNone/>
            </a:pPr>
            <a:r>
              <a:rPr lang="en" sz="1500">
                <a:solidFill>
                  <a:srgbClr val="15202B"/>
                </a:solidFill>
                <a:latin typeface="Calibri"/>
                <a:ea typeface="Calibri"/>
                <a:cs typeface="Calibri"/>
                <a:sym typeface="Calibri"/>
              </a:rPr>
              <a:t>Camera and microphone streams arrive asynchronously at different rates - strict frame-level alignment is infeasible. Instead, the system takes the peak similarity score per modality within an evaluation window.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32"/>
          <p:cNvSpPr txBox="1"/>
          <p:nvPr>
            <p:ph type="title"/>
          </p:nvPr>
        </p:nvSpPr>
        <p:spPr>
          <a:xfrm>
            <a:off x="197400" y="1768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370" name="Google Shape;370;p32"/>
          <p:cNvSpPr txBox="1"/>
          <p:nvPr>
            <p:ph idx="5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Score alignment and normalization</a:t>
            </a:r>
            <a:endParaRPr/>
          </a:p>
        </p:txBody>
      </p:sp>
      <p:sp>
        <p:nvSpPr>
          <p:cNvPr id="371" name="Google Shape;371;p32"/>
          <p:cNvSpPr txBox="1"/>
          <p:nvPr>
            <p:ph idx="6" type="body"/>
          </p:nvPr>
        </p:nvSpPr>
        <p:spPr>
          <a:xfrm>
            <a:off x="548960" y="4873752"/>
            <a:ext cx="2176073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</a:pPr>
            <a:r>
              <a:t/>
            </a:r>
            <a:endParaRPr/>
          </a:p>
        </p:txBody>
      </p:sp>
      <p:pic>
        <p:nvPicPr>
          <p:cNvPr id="372" name="Google Shape;3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7300" y="1289950"/>
            <a:ext cx="4249749" cy="143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7300" y="2728000"/>
            <a:ext cx="4249750" cy="134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2"/>
          <p:cNvSpPr txBox="1"/>
          <p:nvPr/>
        </p:nvSpPr>
        <p:spPr>
          <a:xfrm>
            <a:off x="4373825" y="4285975"/>
            <a:ext cx="38967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i="1" lang="en" sz="8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Eq. (1)–(2): both pathways share Qdrant cosine-similarity retrieval, so Sᵥ and Sₐ are compatible and can be thresholded before fusion.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"/>
          <p:cNvSpPr txBox="1"/>
          <p:nvPr>
            <p:ph type="title"/>
          </p:nvPr>
        </p:nvSpPr>
        <p:spPr>
          <a:xfrm>
            <a:off x="197400" y="1768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Experimental setup</a:t>
            </a:r>
            <a:endParaRPr/>
          </a:p>
        </p:txBody>
      </p:sp>
      <p:sp>
        <p:nvSpPr>
          <p:cNvPr id="380" name="Google Shape;380;p33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1" name="Google Shape;381;p33"/>
          <p:cNvSpPr txBox="1"/>
          <p:nvPr>
            <p:ph idx="1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Dataset &amp; evaluation protocol</a:t>
            </a:r>
            <a:endParaRPr/>
          </a:p>
        </p:txBody>
      </p:sp>
      <p:sp>
        <p:nvSpPr>
          <p:cNvPr id="382" name="Google Shape;382;p33"/>
          <p:cNvSpPr txBox="1"/>
          <p:nvPr>
            <p:ph idx="2" type="body"/>
          </p:nvPr>
        </p:nvSpPr>
        <p:spPr>
          <a:xfrm>
            <a:off x="548960" y="4873752"/>
            <a:ext cx="2176073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</a:pPr>
            <a:r>
              <a:t/>
            </a:r>
            <a:endParaRPr/>
          </a:p>
        </p:txBody>
      </p:sp>
      <p:pic>
        <p:nvPicPr>
          <p:cNvPr id="383" name="Google Shape;38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8960"/>
            <a:ext cx="8839203" cy="2986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"/>
          <p:cNvSpPr txBox="1"/>
          <p:nvPr>
            <p:ph type="title"/>
          </p:nvPr>
        </p:nvSpPr>
        <p:spPr>
          <a:xfrm>
            <a:off x="197400" y="1768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389" name="Google Shape;389;p34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34"/>
          <p:cNvSpPr txBox="1"/>
          <p:nvPr>
            <p:ph idx="1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Evaluation metrics</a:t>
            </a:r>
            <a:endParaRPr/>
          </a:p>
        </p:txBody>
      </p:sp>
      <p:sp>
        <p:nvSpPr>
          <p:cNvPr id="391" name="Google Shape;391;p34"/>
          <p:cNvSpPr txBox="1"/>
          <p:nvPr>
            <p:ph idx="2" type="body"/>
          </p:nvPr>
        </p:nvSpPr>
        <p:spPr>
          <a:xfrm>
            <a:off x="548960" y="4873752"/>
            <a:ext cx="2176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</a:pPr>
            <a:r>
              <a:t/>
            </a:r>
            <a:endParaRPr/>
          </a:p>
        </p:txBody>
      </p:sp>
      <p:graphicFrame>
        <p:nvGraphicFramePr>
          <p:cNvPr id="392" name="Google Shape;392;p34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{D47EBABE-FC20-478F-8854-4FBD34AEA2CE}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Misidentification 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Rejection Rate (unknown)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n_correct/n_total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n_misidentified/n_total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n_rejected/n_total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3" name="Google Shape;393;p34"/>
          <p:cNvSpPr txBox="1"/>
          <p:nvPr/>
        </p:nvSpPr>
        <p:spPr>
          <a:xfrm>
            <a:off x="3852300" y="3503250"/>
            <a:ext cx="43392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i="1" lang="en" sz="13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Together, the three quantities describe complementary failure behavior across the unimodal and fused configurations.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5"/>
          <p:cNvSpPr txBox="1"/>
          <p:nvPr>
            <p:ph type="title"/>
          </p:nvPr>
        </p:nvSpPr>
        <p:spPr>
          <a:xfrm>
            <a:off x="197400" y="1768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399" name="Google Shape;399;p35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35"/>
          <p:cNvSpPr txBox="1"/>
          <p:nvPr>
            <p:ph idx="1" type="body"/>
          </p:nvPr>
        </p:nvSpPr>
        <p:spPr>
          <a:xfrm>
            <a:off x="196850" y="82296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Complementary error patterns</a:t>
            </a:r>
            <a:endParaRPr/>
          </a:p>
        </p:txBody>
      </p:sp>
      <p:sp>
        <p:nvSpPr>
          <p:cNvPr id="401" name="Google Shape;401;p35"/>
          <p:cNvSpPr txBox="1"/>
          <p:nvPr>
            <p:ph idx="2" type="body"/>
          </p:nvPr>
        </p:nvSpPr>
        <p:spPr>
          <a:xfrm>
            <a:off x="548960" y="4873752"/>
            <a:ext cx="2176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</a:pPr>
            <a:r>
              <a:t/>
            </a:r>
            <a:endParaRPr/>
          </a:p>
        </p:txBody>
      </p:sp>
      <p:pic>
        <p:nvPicPr>
          <p:cNvPr id="402" name="Google Shape;4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1010"/>
            <a:ext cx="8839200" cy="273136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5"/>
          <p:cNvSpPr txBox="1"/>
          <p:nvPr/>
        </p:nvSpPr>
        <p:spPr>
          <a:xfrm>
            <a:off x="196850" y="3945475"/>
            <a:ext cx="8566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Non-overlapping failure modes: when audio misidentifies, vision usually gives the correct match or UNKNOWN - so the CONFLICT state catches the contradiction.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1175" y="4457124"/>
            <a:ext cx="6544500" cy="3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6"/>
          <p:cNvSpPr txBox="1"/>
          <p:nvPr>
            <p:ph idx="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36"/>
          <p:cNvSpPr txBox="1"/>
          <p:nvPr>
            <p:ph idx="1" type="body"/>
          </p:nvPr>
        </p:nvSpPr>
        <p:spPr>
          <a:xfrm>
            <a:off x="548961" y="4873752"/>
            <a:ext cx="2163962" cy="1755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</a:pPr>
            <a:r>
              <a:t/>
            </a:r>
            <a:endParaRPr/>
          </a:p>
        </p:txBody>
      </p:sp>
      <p:sp>
        <p:nvSpPr>
          <p:cNvPr id="411" name="Google Shape;411;p36"/>
          <p:cNvSpPr txBox="1"/>
          <p:nvPr>
            <p:ph idx="1" type="body"/>
          </p:nvPr>
        </p:nvSpPr>
        <p:spPr>
          <a:xfrm>
            <a:off x="197400" y="1308375"/>
            <a:ext cx="39222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We Did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Training-free multimodal fusion - no paired audio-visual data, no fusion network to train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Unified Qdrant retrieval backend - merges 512-D CLIP (face) and 128-D VoiceNet (voice) embeddings under one identity-aware infrastructure, without forcing them into a shared latent space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Deterministic state-based fusion layer - explicit CONFIRMED / VISION_ONLY / AUDIO_ONLY / CONFLICT logic for agreement, missing streams, and cross-modal conflicts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Misidentification rate cut from 9.00% → 0.00% by rejecting under cross-modal contradiction - a deliberate, risk-averse security trade-off (accuracy 83% → 75%, rejection 7% → 25%)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6"/>
          <p:cNvSpPr txBox="1"/>
          <p:nvPr>
            <p:ph idx="12" type="sldNum"/>
          </p:nvPr>
        </p:nvSpPr>
        <p:spPr>
          <a:xfrm>
            <a:off x="7" y="4816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3" name="Google Shape;413;p36"/>
          <p:cNvSpPr txBox="1"/>
          <p:nvPr>
            <p:ph idx="4294967295" type="title"/>
          </p:nvPr>
        </p:nvSpPr>
        <p:spPr>
          <a:xfrm>
            <a:off x="197400" y="1768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100"/>
              <a:t>Conclusion &amp; future work</a:t>
            </a:r>
            <a:endParaRPr/>
          </a:p>
        </p:txBody>
      </p:sp>
      <p:sp>
        <p:nvSpPr>
          <p:cNvPr id="414" name="Google Shape;414;p36"/>
          <p:cNvSpPr txBox="1"/>
          <p:nvPr>
            <p:ph idx="4294967295" type="body"/>
          </p:nvPr>
        </p:nvSpPr>
        <p:spPr>
          <a:xfrm>
            <a:off x="196850" y="822950"/>
            <a:ext cx="425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Contributions</a:t>
            </a:r>
            <a:endParaRPr/>
          </a:p>
        </p:txBody>
      </p:sp>
      <p:sp>
        <p:nvSpPr>
          <p:cNvPr id="415" name="Google Shape;415;p36"/>
          <p:cNvSpPr txBox="1"/>
          <p:nvPr>
            <p:ph idx="4294967295" type="body"/>
          </p:nvPr>
        </p:nvSpPr>
        <p:spPr>
          <a:xfrm>
            <a:off x="548960" y="4873752"/>
            <a:ext cx="2176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ExtraBold"/>
              <a:buNone/>
            </a:pPr>
            <a:r>
              <a:t/>
            </a:r>
            <a:endParaRPr/>
          </a:p>
        </p:txBody>
      </p:sp>
      <p:sp>
        <p:nvSpPr>
          <p:cNvPr id="416" name="Google Shape;416;p36"/>
          <p:cNvSpPr txBox="1"/>
          <p:nvPr>
            <p:ph idx="1" type="body"/>
          </p:nvPr>
        </p:nvSpPr>
        <p:spPr>
          <a:xfrm>
            <a:off x="4370850" y="1353250"/>
            <a:ext cx="39222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Steps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Edge-device deployment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Latency and resource profiling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Live cross-modal synchronization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EEE Template Blue">
  <a:themeElements>
    <a:clrScheme name="Simple Light">
      <a:dk1>
        <a:srgbClr val="000000"/>
      </a:dk1>
      <a:lt1>
        <a:srgbClr val="FFFFFF"/>
      </a:lt1>
      <a:dk2>
        <a:srgbClr val="00629B"/>
      </a:dk2>
      <a:lt2>
        <a:srgbClr val="E3E4E5"/>
      </a:lt2>
      <a:accent1>
        <a:srgbClr val="002855"/>
      </a:accent1>
      <a:accent2>
        <a:srgbClr val="00B5E2"/>
      </a:accent2>
      <a:accent3>
        <a:srgbClr val="007377"/>
      </a:accent3>
      <a:accent4>
        <a:srgbClr val="009CA6"/>
      </a:accent4>
      <a:accent5>
        <a:srgbClr val="861F41"/>
      </a:accent5>
      <a:accent6>
        <a:srgbClr val="FFA300"/>
      </a:accent6>
      <a:hlink>
        <a:srgbClr val="00629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