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Good morning/afternoon. This talk presents a real-time, training-free framework for multimodal identity verification that fuses face and voice biometrics. The core idea: get the robustness benefits of multimodal fusion without paired training data or a joint fusion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Unimodal biometrics degrade in the wild. Face recognition is sensitive to illumination, pose, and blur; voice verification degrades under noise and reverberation. Both effects push false rejection and false acceptance rates up, which motivates combining modalities.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 deep multimodal fusion methods need synchronized, paired audio-visual datasets and joint training. That adds computational overhead, risks overfitting, and locks the face and voice sub-models together — you can't upgrade one independently. This is the gap we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contributions: a real-time face+voice framework; a unified Qdrant retrieval backend across heterogeneous embedding spaces; a training-free fusion mechanism; an explicit temporal decision layer with agreement/missing/conflict states; and an offline evaluation quantifying the accuracy-security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Here is the full pipeline. Camera and microphone streams are processed by independent encoders into face and voice embeddings. Both are queried against a shared Qdrant backend. The temporal stream aligner takes the peak match per modality, and the state logic engine turns that into a final identity decision. Walk left to right — this is the mental model for the rest of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visual pipeline reuses the CLIP ViT-B/32 vision backbone from our prior zero-shot face recognition work, unchanged. It takes normalized 224×224 face frames and outputs 512-D embeddings that are robust to pose, illumination, and blur. The only architectural change here is the retrieval backend — migrated from FAISS to Qdrant to align with the auditory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Voice verification uses a custom convolutional network, VoiceNetEmbedding, trained on VoxCeleb. Five conv blocks expand channels from 32 to 256 over log-Mel spectrograms. Note the 'truncation trick': we train with a closed-set softmax head, then discard it after convergence and reuse only the backbone as a zero-shot, open-set embedding extractor — 128-D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common misconception to head off: Qdrant does not merge face and voice vectors into one space — 512-D and 128-D vectors are structurally incompatible. What it unifies is the infrastructure: one identity schema, one metadata layer, one deployment, instead of two separate FAISS indexes with duplicated metadata and manual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Camera and microphone streams arrive asynchronously at different rates, so strict frame-level alignment isn't practical. Instead we take the peak similarity score per modality within an evaluation window — S_V and S_A. Because both pathways share the same Qdrant cosine-similarity configuration, these peak scores are directly comparable and can be thresholded before 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core novelty — spend extra time here. Four explicit states: CONFIRMED when both modalities agree, in which case we combine scores with the harmonic mean, which penalizes a weak match in either modality rather than just averaging. VISION_ONLY or AUDIO_ONLY when one stream is missing or rejected. And CONFLICT — the safety mechanism — when the two modalities disagree on identity; in that case, the decision is suppressed and the probe is rejected rather than risking a false accept.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Briefly: evaluation uses an identity-centric directory structure. Each identity has a train/ split for enrollment and a val/ split of unseen probes, each further split into audio and vision. Every probe trial ends in one of three outcomes: correct identification, misidentification, or rejection.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metrics, precisely defined: accuracy is correct identifications over total; misidentification rate is the fraction of probes accepted under the wrong identity — this is the dangerous failure mode; rejection rate is the fraction the system declines to confirm. Keep these in mind — the results slide depends on distinguishing misidentification from rejection.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Face-only reaches 92% accuracy with zero misidentifications, but an 8% rejection rate. Voice-only is weaker: 83% accuracy but a 9% misidentification rate. The fused system trades accuracy down to 75% — with rejection rate rising to 25% — in exchange for driving misidentification to 0%. This is a deliberate design choice: in a security-oriented verification setting, refusing a legitimate user is a much cheaper mistake than accepting an impostor.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mechanism behind that result. Face-only errors are sparse and mostly manifest as rejections under pose, scale, or quality variation — rarely as a wrong identity. Voice-only errors scatter across many enrolled identities — the acoustic subsystem is more prone to cross-speaker confusion. Because these failure modes rarely overlap, when voice misidentifies, vision usually still gives the correct match or an unknown — so the CONFLICT state catches the contradiction and suppresses the unsafe accept.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 summarize: a training-free multimodal verification framework needing no paired audio-visual data and no fusion network to train, which cut misidentification from 9% to 0% at the cost of a higher rejection rate — an explicit, tunable trade-off rather than an incidental one. Future work: benchmarking on edge hardware, profiling latency and resource use, and handling live cross-modal synchronization instead of the offline peak-score aggregation used here. Thank you —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SISY 2026 · 24TH INT'L SYMP. ON INTELLIGENT SYSTEMS &amp; INFORMATICS · PULA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Training-Free Multimodal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Verification using Biometric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Score Fusion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2194560" cy="0"/>
          </a:xfrm>
          <a:prstGeom prst="line">
            <a:avLst/>
          </a:prstGeom>
          <a:noFill/>
          <a:ln w="25400">
            <a:solidFill>
              <a:srgbClr val="3E64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Labinjan  ·  Nikola Tanković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Informatics, Juraj Dobrila University of Pula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Unimodal Biometrics Fail in the Real World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73736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Sensitive to illumination changes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Degrades under pose variation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68680" y="4389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Fails on motion blur &amp; occlusion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852160" y="182880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194560"/>
            <a:ext cx="685800" cy="68580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704088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Verification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172200" y="32004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Degrades under ambient noise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172200" y="37947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Struggles with reverberant rooms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72200" y="43891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Vulnerable to cross-speaker confusion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5623560"/>
            <a:ext cx="10378440" cy="640080"/>
          </a:xfrm>
          <a:prstGeom prst="roundRect">
            <a:avLst>
              <a:gd name="adj" fmla="val 4000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6235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elevated false rejection and false acceptance rates in deployment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in Existing Multimodal Fusion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2860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63824" y="2596896"/>
            <a:ext cx="393192" cy="201168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7" name="Shape 5"/>
          <p:cNvSpPr/>
          <p:nvPr/>
        </p:nvSpPr>
        <p:spPr>
          <a:xfrm>
            <a:off x="3611880" y="2194560"/>
            <a:ext cx="22860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52744" y="2596896"/>
            <a:ext cx="393192" cy="201168"/>
          </a:xfrm>
          <a:prstGeom prst="rightArrow">
            <a:avLst/>
          </a:prstGeom>
          <a:solidFill>
            <a:srgbClr val="5B6472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94560"/>
            <a:ext cx="22860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945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132588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46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0881360" cy="2011680"/>
          </a:xfrm>
          <a:prstGeom prst="roundRect">
            <a:avLst>
              <a:gd name="adj" fmla="val 3636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6908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Deep multimodal fusion needs synchronized, paired datasets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6177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Joint training adds computational overhead and overfitting risk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16636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Prevents independent upgrades of face / voice sub-models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PAPER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417320" y="1874520"/>
            <a:ext cx="950976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1874520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multimodal framework fusing face and voice biometrics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715768"/>
            <a:ext cx="548640" cy="54864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15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17320" y="2715768"/>
            <a:ext cx="950976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2715768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Qdrant retrieval backend for heterogeneous embeddings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548640" cy="54864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570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17320" y="3557016"/>
            <a:ext cx="950976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557016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 fusion — no joint optimization or paired data required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398264"/>
            <a:ext cx="548640" cy="548640"/>
          </a:xfrm>
          <a:prstGeom prst="ellipse">
            <a:avLst/>
          </a:prstGeom>
          <a:solidFill>
            <a:srgbClr val="3E648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982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17320" y="4398264"/>
            <a:ext cx="950976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4398264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decision layer: agreement, missing-stream, and conflict states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" y="5239512"/>
            <a:ext cx="548640" cy="54864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39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17320" y="5239512"/>
            <a:ext cx="9509760" cy="6583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5239512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evaluation quantifying the accuracy / security trade-off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0000"/>
            <a:ext cx="3017520" cy="7000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0000"/>
            <a:ext cx="301752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Node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550000"/>
            <a:ext cx="3017520" cy="700000"/>
          </a:xfrm>
          <a:prstGeom prst="roundRect">
            <a:avLst>
              <a:gd name="adj" fmla="val 4000"/>
            </a:avLst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1550000"/>
            <a:ext cx="301752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Node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39696" y="2280000"/>
            <a:ext cx="201168" cy="320040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637776" y="2280000"/>
            <a:ext cx="201168" cy="320040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630040"/>
            <a:ext cx="3017520" cy="700000"/>
          </a:xfrm>
          <a:prstGeom prst="roundRect">
            <a:avLst>
              <a:gd name="adj" fmla="val 4000"/>
            </a:avLst>
          </a:prstGeom>
          <a:solidFill>
            <a:srgbClr val="17223F"/>
          </a:solidFill>
          <a:ln w="12700">
            <a:solidFill>
              <a:srgbClr val="3E648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30040"/>
            <a:ext cx="301752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face embedding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2630040"/>
            <a:ext cx="3017520" cy="700000"/>
          </a:xfrm>
          <a:prstGeom prst="roundRect">
            <a:avLst>
              <a:gd name="adj" fmla="val 4000"/>
            </a:avLst>
          </a:prstGeom>
          <a:solidFill>
            <a:srgbClr val="17223F"/>
          </a:solidFill>
          <a:ln w="12700">
            <a:solidFill>
              <a:srgbClr val="3E64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630040"/>
            <a:ext cx="301752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VoiceNet CNN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 speaker embedding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139696" y="3360040"/>
            <a:ext cx="201168" cy="320040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637776" y="3360040"/>
            <a:ext cx="201168" cy="320040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240280" y="3601208"/>
            <a:ext cx="3108960" cy="118872"/>
          </a:xfrm>
          <a:prstGeom prst="line">
            <a:avLst/>
          </a:prstGeom>
          <a:noFill/>
          <a:ln w="19050">
            <a:solidFill>
              <a:srgbClr val="3E648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3601208"/>
            <a:ext cx="2926080" cy="118872"/>
          </a:xfrm>
          <a:prstGeom prst="line">
            <a:avLst/>
          </a:prstGeom>
          <a:noFill/>
          <a:ln w="19050">
            <a:solidFill>
              <a:srgbClr val="3E648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3740080"/>
            <a:ext cx="3840480" cy="700000"/>
          </a:xfrm>
          <a:prstGeom prst="roundRect">
            <a:avLst>
              <a:gd name="adj" fmla="val 4000"/>
            </a:avLst>
          </a:prstGeom>
          <a:solidFill>
            <a:srgbClr val="3E648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3740080"/>
            <a:ext cx="384048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Vector DB (Qdrant)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search · shared identity metadata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4480080"/>
            <a:ext cx="201168" cy="274320"/>
          </a:xfrm>
          <a:prstGeom prst="downArrow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480560" y="5768720"/>
            <a:ext cx="3200400" cy="594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57687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Logic Engine → Identity Verification Output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Aligner BG"/>
          <p:cNvSpPr/>
          <p:nvPr/>
        </p:nvSpPr>
        <p:spPr>
          <a:xfrm>
            <a:off x="4160520" y="4794400"/>
            <a:ext cx="3840480" cy="62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Aligner"/>
          <p:cNvSpPr/>
          <p:nvPr/>
        </p:nvSpPr>
        <p:spPr>
          <a:xfrm>
            <a:off x="4160520" y="4794400"/>
            <a:ext cx="384048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Stream Aligner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match (Cᵥ, Cₐ) per identity, before state logic</a:t>
            </a:r>
            <a:endParaRPr lang="en-US" sz="1250" dirty="0"/>
          </a:p>
        </p:txBody>
      </p:sp>
      <p:sp>
        <p:nvSpPr>
          <p:cNvPr id="20" name="Arrow Aligner to State"/>
          <p:cNvSpPr/>
          <p:nvPr/>
        </p:nvSpPr>
        <p:spPr>
          <a:xfrm>
            <a:off x="5989320" y="5454400"/>
            <a:ext cx="201168" cy="274320"/>
          </a:xfrm>
          <a:prstGeom prst="downArrow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Recognition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3317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Image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08376" y="2779776"/>
            <a:ext cx="246888" cy="201168"/>
          </a:xfrm>
          <a:prstGeom prst="rightArrow">
            <a:avLst/>
          </a:prstGeom>
          <a:solidFill>
            <a:srgbClr val="1E3A6E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2286000"/>
            <a:ext cx="23317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ViT-B/32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(openai/clip-vit-base-patch32)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0136" y="2779776"/>
            <a:ext cx="246888" cy="201168"/>
          </a:xfrm>
          <a:prstGeom prst="rightArrow">
            <a:avLst/>
          </a:prstGeom>
          <a:solidFill>
            <a:srgbClr val="1E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286000"/>
            <a:ext cx="2331720" cy="1188720"/>
          </a:xfrm>
          <a:prstGeom prst="roundRect">
            <a:avLst>
              <a:gd name="adj" fmla="val 4000"/>
            </a:avLst>
          </a:prstGeom>
          <a:solidFill>
            <a:srgbClr val="3E648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11896" y="2779776"/>
            <a:ext cx="246888" cy="201168"/>
          </a:xfrm>
          <a:prstGeom prst="rightArrow">
            <a:avLst/>
          </a:prstGeom>
          <a:solidFill>
            <a:srgbClr val="1E3A6E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0" y="2286000"/>
            <a:ext cx="23317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Index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06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Builds on prior zero-shot work (Labinjan et al.) — encoder unchanged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Robust to domain shifts: pose, illumination, and blur variation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Migrated retrieval backend from FAISS → Qdrant for unified infrastructure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AUDITORY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Verification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3317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Chunk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(mono)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08376" y="2779776"/>
            <a:ext cx="246888" cy="201168"/>
          </a:xfrm>
          <a:prstGeom prst="rightArrow">
            <a:avLst/>
          </a:prstGeom>
          <a:solidFill>
            <a:srgbClr val="1E3A6E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2286000"/>
            <a:ext cx="23317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Log-Mel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0136" y="2779776"/>
            <a:ext cx="246888" cy="201168"/>
          </a:xfrm>
          <a:prstGeom prst="rightArrow">
            <a:avLst/>
          </a:prstGeom>
          <a:solidFill>
            <a:srgbClr val="1E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0" y="2286000"/>
            <a:ext cx="233172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VoiceNet CNN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conv blocks · 32→256 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11896" y="2779776"/>
            <a:ext cx="246888" cy="201168"/>
          </a:xfrm>
          <a:prstGeom prst="rightArrow">
            <a:avLst/>
          </a:prstGeom>
          <a:solidFill>
            <a:srgbClr val="1E3A6E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0" y="2286000"/>
            <a:ext cx="2331720" cy="1188720"/>
          </a:xfrm>
          <a:prstGeom prst="roundRect">
            <a:avLst>
              <a:gd name="adj" fmla="val 4000"/>
            </a:avLst>
          </a:prstGeom>
          <a:solidFill>
            <a:srgbClr val="3E648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286000"/>
            <a:ext cx="2331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128-D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06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Trained closed-set on VoxCeleb: Conv2D + BatchNorm + ReLU + MaxPool ×5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"truncation trick": Softmax head used only for training, then discarded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Remaining backbone reused zero-shot as an open-set speaker embedding extractor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Unify on Qdrant?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5875">
            <a:solidFill>
              <a:srgbClr val="E457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945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Separate FAISS Indexes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Two vector indexes to maintain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Duplicated identity metadata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sync across storage layers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Separate persistence mechanisms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852160" y="192024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1945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4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Unified Qdrant Backend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28346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Centralized vector storage &amp; retrieval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6480" y="3383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Shared identity + metadata schema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26480" y="39319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Modality-specific similarity retained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26480" y="44805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deployment configuration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Clarification: Qdrant unifies infrastructure and identity metadata — not the vector spaces themselves. Face (512-D) and voice (128-D) embeddings remain separate.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Alignment &amp; Normalization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microphone streams arrive asynchronously at different rates — strict frame-level alignment is infeasible. Instead, the system takes the peak similarity score per modality within an evaluation window.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074920" cy="1737360"/>
          </a:xfrm>
          <a:prstGeom prst="roundRect">
            <a:avLst>
              <a:gd name="adj" fmla="val 4000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017520"/>
            <a:ext cx="548640" cy="548640"/>
          </a:xfrm>
          <a:prstGeom prst="ellipse">
            <a:avLst/>
          </a:prstGeom>
          <a:solidFill>
            <a:srgbClr val="3E648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peak score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700">
                <a:solidFill>
                  <a:srgbClr val="9FC1E0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9FC1E0"/>
                </a:solidFill>
                <a:latin typeface="Cambria Math"/>
              </a:rPr>
              <a:t>V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 = max{ 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9FC1E0"/>
                </a:solidFill>
                <a:latin typeface="Cambria Math"/>
              </a:rPr>
              <a:t>v1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, 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9FC1E0"/>
                </a:solidFill>
                <a:latin typeface="Cambria Math"/>
              </a:rPr>
              <a:t>v2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, …, 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9FC1E0"/>
                </a:solidFill>
                <a:latin typeface="Cambria Math"/>
              </a:rPr>
              <a:t>vn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 }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852160" y="2697480"/>
            <a:ext cx="5074920" cy="1737360"/>
          </a:xfrm>
          <a:prstGeom prst="roundRect">
            <a:avLst>
              <a:gd name="adj" fmla="val 4000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3017520"/>
            <a:ext cx="548640" cy="548640"/>
          </a:xfrm>
          <a:prstGeom prst="ellipse">
            <a:avLst/>
          </a:prstGeom>
          <a:solidFill>
            <a:srgbClr val="3E6487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0372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Auditory peak score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37490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700">
                <a:solidFill>
                  <a:srgbClr val="9FC1E0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9FC1E0"/>
                </a:solidFill>
                <a:latin typeface="Cambria Math"/>
              </a:rPr>
              <a:t>A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 = max{ 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9FC1E0"/>
                </a:solidFill>
                <a:latin typeface="Cambria Math"/>
              </a:rPr>
              <a:t>a1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, 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9FC1E0"/>
                </a:solidFill>
                <a:latin typeface="Cambria Math"/>
              </a:rPr>
              <a:t>a2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, …, 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s</a:t>
            </a:r>
            <a:r>
              <a:rPr b="1" sz="1190" baseline="-25000">
                <a:solidFill>
                  <a:srgbClr val="9FC1E0"/>
                </a:solidFill>
                <a:latin typeface="Cambria Math"/>
              </a:rPr>
              <a:t>am</a:t>
            </a:r>
            <a:r>
              <a:rPr b="1" sz="1700">
                <a:solidFill>
                  <a:srgbClr val="9FC1E0"/>
                </a:solidFill>
                <a:latin typeface="Cambria Math"/>
              </a:rPr>
              <a:t> 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 (1)–(2): both pathways share Qdrant cosine-similarity retrieval, so Sᵥ and Sₐ are compatible and can be thresholded before fusion.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Fusion Logic — Decision States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1417320"/>
          </a:xfrm>
          <a:prstGeom prst="roundRect">
            <a:avLst>
              <a:gd name="adj" fmla="val 4000"/>
            </a:avLst>
          </a:prstGeom>
          <a:solidFill>
            <a:srgbClr val="16224A"/>
          </a:solidFill>
          <a:ln w="19050">
            <a:solidFill>
              <a:srgbClr val="17A6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5084" y="2039112"/>
            <a:ext cx="164592" cy="164592"/>
          </a:xfrm>
          <a:prstGeom prst="ellipse">
            <a:avLst/>
          </a:prstGeom>
          <a:solidFill>
            <a:srgbClr val="17A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62432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modalities agree on identity → harmonic-mean fused score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874520"/>
            <a:ext cx="2514600" cy="1417320"/>
          </a:xfrm>
          <a:prstGeom prst="roundRect">
            <a:avLst>
              <a:gd name="adj" fmla="val 4000"/>
            </a:avLst>
          </a:prstGeom>
          <a:solidFill>
            <a:srgbClr val="16224A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85716" y="2039112"/>
            <a:ext cx="164592" cy="1645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3410712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VISION_ONLY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47872" y="262432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missing / rejected → fall back to visual score alone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81344" y="1874520"/>
            <a:ext cx="2514600" cy="1417320"/>
          </a:xfrm>
          <a:prstGeom prst="roundRect">
            <a:avLst>
              <a:gd name="adj" fmla="val 4000"/>
            </a:avLst>
          </a:prstGeom>
          <a:solidFill>
            <a:srgbClr val="16224A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56348" y="2039112"/>
            <a:ext cx="164592" cy="164592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AUDIO_ONLY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18504" y="262432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missing / rejected → fall back to voice score alone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51976" y="1874520"/>
            <a:ext cx="2514600" cy="1417320"/>
          </a:xfrm>
          <a:prstGeom prst="roundRect">
            <a:avLst>
              <a:gd name="adj" fmla="val 4000"/>
            </a:avLst>
          </a:prstGeom>
          <a:solidFill>
            <a:srgbClr val="16224A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26980" y="2039112"/>
            <a:ext cx="164592" cy="164592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Text 16"/>
          <p:cNvSpPr/>
          <p:nvPr/>
        </p:nvSpPr>
        <p:spPr>
          <a:xfrm>
            <a:off x="8951976" y="22585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089136" y="2624328"/>
            <a:ext cx="2240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disagree on identity → suppressed, rejected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37360" y="3749040"/>
            <a:ext cx="8686800" cy="1188720"/>
          </a:xfrm>
          <a:prstGeom prst="roundRect">
            <a:avLst>
              <a:gd name="adj" fmla="val 4000"/>
            </a:avLst>
          </a:prstGeom>
          <a:solidFill>
            <a:srgbClr val="3E648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38587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Harmonic-mean fusion under CONFIRMED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737360" y="4133088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b="1" sz="2200">
                <a:solidFill>
                  <a:srgbClr val="FFFFFF"/>
                </a:solidFill>
                <a:latin typeface="Cambria Math"/>
              </a:rPr>
              <a:t>S</a:t>
            </a:r>
            <a:r>
              <a:rPr b="1" sz="1540" baseline="-25000">
                <a:solidFill>
                  <a:srgbClr val="FFFFFF"/>
                </a:solidFill>
                <a:latin typeface="Cambria Math"/>
              </a:rPr>
              <a:t>fused</a:t>
            </a:r>
            <a:r>
              <a:rPr b="1" sz="2200">
                <a:solidFill>
                  <a:srgbClr val="FFFFFF"/>
                </a:solidFill>
                <a:latin typeface="Cambria Math"/>
              </a:rPr>
              <a:t> = 2 · </a:t>
            </a:r>
            <a:r>
              <a:rPr b="1" sz="2200">
                <a:solidFill>
                  <a:srgbClr val="FFFFFF"/>
                </a:solidFill>
                <a:latin typeface="Cambria Math"/>
              </a:rPr>
              <a:t>S</a:t>
            </a:r>
            <a:r>
              <a:rPr b="1" sz="1540" baseline="-25000">
                <a:solidFill>
                  <a:srgbClr val="FFFFFF"/>
                </a:solidFill>
                <a:latin typeface="Cambria Math"/>
              </a:rPr>
              <a:t>V</a:t>
            </a:r>
            <a:r>
              <a:rPr b="1" sz="2200">
                <a:solidFill>
                  <a:srgbClr val="FFFFFF"/>
                </a:solidFill>
                <a:latin typeface="Cambria Math"/>
              </a:rPr>
              <a:t> · </a:t>
            </a:r>
            <a:r>
              <a:rPr b="1" sz="2200">
                <a:solidFill>
                  <a:srgbClr val="FFFFFF"/>
                </a:solidFill>
                <a:latin typeface="Cambria Math"/>
              </a:rPr>
              <a:t>S</a:t>
            </a:r>
            <a:r>
              <a:rPr b="1" sz="1540" baseline="-25000">
                <a:solidFill>
                  <a:srgbClr val="FFFFFF"/>
                </a:solidFill>
                <a:latin typeface="Cambria Math"/>
              </a:rPr>
              <a:t>A</a:t>
            </a:r>
            <a:r>
              <a:rPr b="1" sz="2200">
                <a:solidFill>
                  <a:srgbClr val="FFFFFF"/>
                </a:solidFill>
                <a:latin typeface="Cambria Math"/>
              </a:rPr>
              <a:t> / (</a:t>
            </a:r>
            <a:r>
              <a:rPr b="1" sz="2200">
                <a:solidFill>
                  <a:srgbClr val="FFFFFF"/>
                </a:solidFill>
                <a:latin typeface="Cambria Math"/>
              </a:rPr>
              <a:t>S</a:t>
            </a:r>
            <a:r>
              <a:rPr b="1" sz="1540" baseline="-25000">
                <a:solidFill>
                  <a:srgbClr val="FFFFFF"/>
                </a:solidFill>
                <a:latin typeface="Cambria Math"/>
              </a:rPr>
              <a:t>V</a:t>
            </a:r>
            <a:r>
              <a:rPr b="1" sz="2200">
                <a:solidFill>
                  <a:srgbClr val="FFFFFF"/>
                </a:solidFill>
                <a:latin typeface="Cambria Math"/>
              </a:rPr>
              <a:t> + </a:t>
            </a:r>
            <a:r>
              <a:rPr b="1" sz="2200">
                <a:solidFill>
                  <a:srgbClr val="FFFFFF"/>
                </a:solidFill>
                <a:latin typeface="Cambria Math"/>
              </a:rPr>
              <a:t>S</a:t>
            </a:r>
            <a:r>
              <a:rPr b="1" sz="1540" baseline="-25000">
                <a:solidFill>
                  <a:srgbClr val="FFFFFF"/>
                </a:solidFill>
                <a:latin typeface="Cambria Math"/>
              </a:rPr>
              <a:t>A</a:t>
            </a:r>
            <a:r>
              <a:rPr b="1" sz="2200">
                <a:solidFill>
                  <a:srgbClr val="FFFFFF"/>
                </a:solidFill>
                <a:latin typeface="Cambria Math"/>
              </a:rPr>
              <a:t> + ε)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Evaluation Protocol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known_data/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identity_i/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train/  (enrollment gallery)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audio/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vision/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val/  (evaluation probes)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audio/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5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vision/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5577840" cy="3657600"/>
          </a:xfrm>
          <a:prstGeom prst="roundRect">
            <a:avLst>
              <a:gd name="adj" fmla="val 2000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probe outcomes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identification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matches ground truth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3383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Misidentification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0936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accepts a wrong identity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4251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0936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UNKNOWN or CONFLICT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17A6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2468880"/>
            <a:ext cx="274320" cy="274320"/>
          </a:xfrm>
          <a:prstGeom prst="ellipse">
            <a:avLst/>
          </a:prstGeom>
          <a:solidFill>
            <a:srgbClr val="17A67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b="1" sz="2000">
                <a:solidFill>
                  <a:srgbClr val="17A673"/>
                </a:solidFill>
                <a:latin typeface="Cambria Math"/>
              </a:rPr>
              <a:t>N</a:t>
            </a:r>
            <a:r>
              <a:rPr b="1" sz="1400" baseline="-25000">
                <a:solidFill>
                  <a:srgbClr val="17A673"/>
                </a:solidFill>
                <a:latin typeface="Cambria Math"/>
              </a:rPr>
              <a:t>correct</a:t>
            </a:r>
            <a:r>
              <a:rPr b="1" sz="2000">
                <a:solidFill>
                  <a:srgbClr val="17A673"/>
                </a:solidFill>
                <a:latin typeface="Cambria Math"/>
              </a:rPr>
              <a:t> / 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51960" y="219456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E457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06440" y="2468880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Misidentification Rate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34840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b="1" sz="2000">
                <a:solidFill>
                  <a:srgbClr val="E4572E"/>
                </a:solidFill>
                <a:latin typeface="Cambria Math"/>
              </a:rPr>
              <a:t>N</a:t>
            </a:r>
            <a:r>
              <a:rPr b="1" sz="1400" baseline="-25000">
                <a:solidFill>
                  <a:srgbClr val="E4572E"/>
                </a:solidFill>
                <a:latin typeface="Cambria Math"/>
              </a:rPr>
              <a:t>misid</a:t>
            </a:r>
            <a:r>
              <a:rPr b="1" sz="2000">
                <a:solidFill>
                  <a:srgbClr val="E4572E"/>
                </a:solidFill>
                <a:latin typeface="Cambria Math"/>
              </a:rPr>
              <a:t> / 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955280" y="2194560"/>
            <a:ext cx="33832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0" y="2468880"/>
            <a:ext cx="274320" cy="2743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926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3566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b="1" sz="2000">
                <a:solidFill>
                  <a:srgbClr val="F2B134"/>
                </a:solidFill>
                <a:latin typeface="Cambria Math"/>
              </a:rPr>
              <a:t>N</a:t>
            </a:r>
            <a:r>
              <a:rPr b="1" sz="1400" baseline="-25000">
                <a:solidFill>
                  <a:srgbClr val="F2B134"/>
                </a:solidFill>
                <a:latin typeface="Cambria Math"/>
              </a:rPr>
              <a:t>reject</a:t>
            </a:r>
            <a:r>
              <a:rPr b="1" sz="2000">
                <a:solidFill>
                  <a:srgbClr val="F2B134"/>
                </a:solidFill>
                <a:latin typeface="Cambria Math"/>
              </a:rPr>
              <a:t> / 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 three quantities describe complementary failure behavior across the unimodal and fused configurations.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Unimodal vs. Fused Performance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492240" cy="2377440"/>
        </p:xfrm>
        <a:graphic>
          <a:graphicData uri="http://schemas.openxmlformats.org/drawingml/2006/table">
            <a:tbl>
              <a:tblPr/>
              <a:tblGrid>
                <a:gridCol w="1623060"/>
                <a:gridCol w="1623060"/>
                <a:gridCol w="1623060"/>
                <a:gridCol w="16230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Misident. Rate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Reject. Rate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Face-only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A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Voice-only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7A6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83080"/>
            <a:ext cx="4297680" cy="2377440"/>
          </a:xfrm>
          <a:prstGeom prst="roundRect">
            <a:avLst>
              <a:gd name="adj" fmla="val 3077"/>
            </a:avLst>
          </a:prstGeom>
          <a:solidFill>
            <a:srgbClr val="0F1B3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20574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9.00%  →  0.00%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498080" y="28803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misidentification rate, voice-only → fused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0" y="34290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 rises to 25% — the deliberate cost of a security-first design.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framing: accuracy drops from 92% to 75%, but misidentification — the dangerous failure mode — falls to zero by increasing rejection under cross-modal contradiction.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64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Works: Complementary Error Patterns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Face-only errors: sparse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2871216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8" name="Shape 6"/>
          <p:cNvSpPr/>
          <p:nvPr/>
        </p:nvSpPr>
        <p:spPr>
          <a:xfrm>
            <a:off x="2468880" y="3136392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9" name="Shape 7"/>
          <p:cNvSpPr/>
          <p:nvPr/>
        </p:nvSpPr>
        <p:spPr>
          <a:xfrm>
            <a:off x="3246120" y="3401568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3666744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78808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mostly appear as rejections under pose, scale, or quality variation — rarely cross-identity.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874520"/>
            <a:ext cx="50749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031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Voice-only errors: scattered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17920" y="2606040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0" y="2606040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995160" y="2871216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7" name="Shape 15"/>
          <p:cNvSpPr/>
          <p:nvPr/>
        </p:nvSpPr>
        <p:spPr>
          <a:xfrm>
            <a:off x="9326880" y="2871216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3136392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3401568"/>
            <a:ext cx="182880" cy="18288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Shape 18"/>
          <p:cNvSpPr/>
          <p:nvPr/>
        </p:nvSpPr>
        <p:spPr>
          <a:xfrm>
            <a:off x="8549640" y="3401568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0" y="3666744"/>
            <a:ext cx="182880" cy="182880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4178808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scatter across multiple enrolled identities — the acoustic subsystem confuses speakers.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 failure modes: when audio misidentifies, vision usually gives the correct match or UNKNOWN — so the CONFLICT state catches the contradiction.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Oval 24"/>
          <p:cNvSpPr/>
          <p:nvPr/>
        </p:nvSpPr>
        <p:spPr>
          <a:xfrm>
            <a:off x="548640" y="5820000"/>
            <a:ext cx="140000" cy="140000"/>
          </a:xfrm>
          <a:prstGeom prst="ellipse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640" y="5790000"/>
            <a:ext cx="36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Correct-identity error (rejection)</a:t>
            </a:r>
          </a:p>
        </p:txBody>
      </p:sp>
      <p:sp>
        <p:nvSpPr>
          <p:cNvPr id="27" name="Oval 26"/>
          <p:cNvSpPr/>
          <p:nvPr/>
        </p:nvSpPr>
        <p:spPr>
          <a:xfrm>
            <a:off x="4548640" y="5820000"/>
            <a:ext cx="140000" cy="14000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48640" y="5790000"/>
            <a:ext cx="4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4155"/>
                </a:solidFill>
              </a:rPr>
              <a:t>Cross-identity misidentification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Training-Free Fusion, Security-First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1622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402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Training-free — no paired audio-visual data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fusion network to optimize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Misidentification cut from 9.00% → 0.00%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52160" y="2011680"/>
            <a:ext cx="5074920" cy="2926080"/>
          </a:xfrm>
          <a:prstGeom prst="roundRect">
            <a:avLst>
              <a:gd name="adj" fmla="val 2500"/>
            </a:avLst>
          </a:prstGeom>
          <a:solidFill>
            <a:srgbClr val="16224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2402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6480" y="278892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Edge-device deployment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26480" y="338328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Latency &amp; resource profiling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6480" y="39776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cross-modal synchronization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58368" y="5257800"/>
            <a:ext cx="1828800" cy="0"/>
          </a:xfrm>
          <a:prstGeom prst="line">
            <a:avLst/>
          </a:prstGeom>
          <a:noFill/>
          <a:ln w="25400">
            <a:solidFill>
              <a:srgbClr val="3E64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394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welcome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A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antonio.labinjan@unipu.hr   ·   nikola.tankovic@unipu.hr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03152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2026-08-29T10:32:28Z</dcterms:created>
  <dcterms:modified xsi:type="dcterms:W3CDTF">2026-08-29T10:32:28Z</dcterms:modified>
</cp:coreProperties>
</file>